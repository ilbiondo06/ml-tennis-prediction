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94A443-E7AB-45C3-B784-1098924A35C2}" v="42" dt="2026-01-15T17:38:38.3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0443C6-7144-4D21-BDD8-C1144459B9FE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52A929DB-0FB1-48BA-BCF6-4F097B1BEB50}">
      <dgm:prSet/>
      <dgm:spPr/>
      <dgm:t>
        <a:bodyPr/>
        <a:lstStyle/>
        <a:p>
          <a:r>
            <a:rPr lang="it-IT"/>
            <a:t>Ingestion: Dataset Jeff-Sackmann (2000-2024)</a:t>
          </a:r>
        </a:p>
      </dgm:t>
    </dgm:pt>
    <dgm:pt modelId="{F9EB4453-4B9B-4CC0-9E09-2C7A883AC82E}" type="parTrans" cxnId="{697656AF-D646-48DB-8631-629F19429A4F}">
      <dgm:prSet/>
      <dgm:spPr/>
      <dgm:t>
        <a:bodyPr/>
        <a:lstStyle/>
        <a:p>
          <a:endParaRPr lang="it-IT"/>
        </a:p>
      </dgm:t>
    </dgm:pt>
    <dgm:pt modelId="{724222E8-E4C3-410D-882C-61D8C44585C7}" type="sibTrans" cxnId="{697656AF-D646-48DB-8631-629F19429A4F}">
      <dgm:prSet/>
      <dgm:spPr/>
      <dgm:t>
        <a:bodyPr/>
        <a:lstStyle/>
        <a:p>
          <a:endParaRPr lang="it-IT"/>
        </a:p>
      </dgm:t>
    </dgm:pt>
    <dgm:pt modelId="{4EB3C2AE-E1AA-4057-853C-937BA64B0D94}">
      <dgm:prSet/>
      <dgm:spPr/>
      <dgm:t>
        <a:bodyPr/>
        <a:lstStyle/>
        <a:p>
          <a:r>
            <a:rPr lang="it-IT"/>
            <a:t>Cleaning: gestione Null, conversione formati</a:t>
          </a:r>
        </a:p>
      </dgm:t>
    </dgm:pt>
    <dgm:pt modelId="{A9F01E5F-CD1A-4812-B174-61ECAAA45B48}" type="parTrans" cxnId="{CD4A92F2-2330-4A64-A300-D2009482EBA0}">
      <dgm:prSet/>
      <dgm:spPr/>
      <dgm:t>
        <a:bodyPr/>
        <a:lstStyle/>
        <a:p>
          <a:endParaRPr lang="it-IT"/>
        </a:p>
      </dgm:t>
    </dgm:pt>
    <dgm:pt modelId="{5D3AC225-9002-423B-B7FB-B3BAB482B06B}" type="sibTrans" cxnId="{CD4A92F2-2330-4A64-A300-D2009482EBA0}">
      <dgm:prSet/>
      <dgm:spPr/>
      <dgm:t>
        <a:bodyPr/>
        <a:lstStyle/>
        <a:p>
          <a:endParaRPr lang="it-IT"/>
        </a:p>
      </dgm:t>
    </dgm:pt>
    <dgm:pt modelId="{B9EAF98B-2826-487A-B2A0-E2EC07698484}">
      <dgm:prSet/>
      <dgm:spPr/>
      <dgm:t>
        <a:bodyPr/>
        <a:lstStyle/>
        <a:p>
          <a:r>
            <a:rPr lang="it-IT" dirty="0"/>
            <a:t>Feature Engineering: Calcolo ELO, diff features</a:t>
          </a:r>
        </a:p>
      </dgm:t>
    </dgm:pt>
    <dgm:pt modelId="{973D8F75-72F3-4496-A7EB-653D4B8B6F6B}" type="parTrans" cxnId="{8EFC1B33-11E5-45FD-B0C8-D51F114BE726}">
      <dgm:prSet/>
      <dgm:spPr/>
      <dgm:t>
        <a:bodyPr/>
        <a:lstStyle/>
        <a:p>
          <a:endParaRPr lang="it-IT"/>
        </a:p>
      </dgm:t>
    </dgm:pt>
    <dgm:pt modelId="{53A51216-4362-416A-876F-EE9831F0869A}" type="sibTrans" cxnId="{8EFC1B33-11E5-45FD-B0C8-D51F114BE726}">
      <dgm:prSet/>
      <dgm:spPr/>
      <dgm:t>
        <a:bodyPr/>
        <a:lstStyle/>
        <a:p>
          <a:endParaRPr lang="it-IT"/>
        </a:p>
      </dgm:t>
    </dgm:pt>
    <dgm:pt modelId="{FFD3A0B1-3310-4F1C-8EB9-8DF0350067BD}">
      <dgm:prSet/>
      <dgm:spPr/>
      <dgm:t>
        <a:bodyPr/>
        <a:lstStyle/>
        <a:p>
          <a:r>
            <a:rPr lang="it-IT"/>
            <a:t>Modeling: Decision Tree, MLP</a:t>
          </a:r>
        </a:p>
      </dgm:t>
    </dgm:pt>
    <dgm:pt modelId="{330DDF98-CCA7-4C39-88D6-58084769ED27}" type="parTrans" cxnId="{7B0FEAB0-70B6-417F-9B67-6B5670A634C0}">
      <dgm:prSet/>
      <dgm:spPr/>
      <dgm:t>
        <a:bodyPr/>
        <a:lstStyle/>
        <a:p>
          <a:endParaRPr lang="it-IT"/>
        </a:p>
      </dgm:t>
    </dgm:pt>
    <dgm:pt modelId="{05D78CE8-5E1A-49A3-85BF-C5F3A35F2208}" type="sibTrans" cxnId="{7B0FEAB0-70B6-417F-9B67-6B5670A634C0}">
      <dgm:prSet/>
      <dgm:spPr/>
      <dgm:t>
        <a:bodyPr/>
        <a:lstStyle/>
        <a:p>
          <a:endParaRPr lang="it-IT"/>
        </a:p>
      </dgm:t>
    </dgm:pt>
    <dgm:pt modelId="{928036DA-B80A-4B64-99D4-F437D7181DC4}">
      <dgm:prSet/>
      <dgm:spPr/>
      <dgm:t>
        <a:bodyPr/>
        <a:lstStyle/>
        <a:p>
          <a:r>
            <a:rPr lang="it-IT"/>
            <a:t>Validation: Differenze prestazionali</a:t>
          </a:r>
        </a:p>
      </dgm:t>
    </dgm:pt>
    <dgm:pt modelId="{4D4A93F7-5960-4875-A83B-4675C423F3F3}" type="parTrans" cxnId="{83A91034-04CD-4B5A-A588-10A8073D411B}">
      <dgm:prSet/>
      <dgm:spPr/>
      <dgm:t>
        <a:bodyPr/>
        <a:lstStyle/>
        <a:p>
          <a:endParaRPr lang="it-IT"/>
        </a:p>
      </dgm:t>
    </dgm:pt>
    <dgm:pt modelId="{F334A1F3-B817-4B91-88BA-EA995F76A24A}" type="sibTrans" cxnId="{83A91034-04CD-4B5A-A588-10A8073D411B}">
      <dgm:prSet/>
      <dgm:spPr/>
      <dgm:t>
        <a:bodyPr/>
        <a:lstStyle/>
        <a:p>
          <a:endParaRPr lang="it-IT"/>
        </a:p>
      </dgm:t>
    </dgm:pt>
    <dgm:pt modelId="{598F1322-6564-4993-B07F-A7963D1E4CAF}">
      <dgm:prSet/>
      <dgm:spPr/>
      <dgm:t>
        <a:bodyPr/>
        <a:lstStyle/>
        <a:p>
          <a:r>
            <a:rPr lang="it-IT"/>
            <a:t>Caso di Studio: Australian Open 2025</a:t>
          </a:r>
        </a:p>
      </dgm:t>
    </dgm:pt>
    <dgm:pt modelId="{AE81B592-374F-4B73-A1C4-58DC46707738}" type="parTrans" cxnId="{BC1B92AA-BC6D-4513-BDFE-EE1FC2522BEB}">
      <dgm:prSet/>
      <dgm:spPr/>
      <dgm:t>
        <a:bodyPr/>
        <a:lstStyle/>
        <a:p>
          <a:endParaRPr lang="it-IT"/>
        </a:p>
      </dgm:t>
    </dgm:pt>
    <dgm:pt modelId="{94669256-B5C0-49D6-942F-BC62AF963125}" type="sibTrans" cxnId="{BC1B92AA-BC6D-4513-BDFE-EE1FC2522BEB}">
      <dgm:prSet/>
      <dgm:spPr/>
      <dgm:t>
        <a:bodyPr/>
        <a:lstStyle/>
        <a:p>
          <a:endParaRPr lang="it-IT"/>
        </a:p>
      </dgm:t>
    </dgm:pt>
    <dgm:pt modelId="{DD40335B-52DC-4394-B17A-BA8615707EFD}" type="pres">
      <dgm:prSet presAssocID="{550443C6-7144-4D21-BDD8-C1144459B9FE}" presName="diagram" presStyleCnt="0">
        <dgm:presLayoutVars>
          <dgm:dir/>
          <dgm:resizeHandles val="exact"/>
        </dgm:presLayoutVars>
      </dgm:prSet>
      <dgm:spPr/>
    </dgm:pt>
    <dgm:pt modelId="{D0C1D17B-541A-4FF1-AC92-D2E24BFC7478}" type="pres">
      <dgm:prSet presAssocID="{52A929DB-0FB1-48BA-BCF6-4F097B1BEB50}" presName="node" presStyleLbl="node1" presStyleIdx="0" presStyleCnt="6">
        <dgm:presLayoutVars>
          <dgm:bulletEnabled val="1"/>
        </dgm:presLayoutVars>
      </dgm:prSet>
      <dgm:spPr/>
    </dgm:pt>
    <dgm:pt modelId="{7AEC5055-7257-4467-B7F3-9235A3FF59C2}" type="pres">
      <dgm:prSet presAssocID="{724222E8-E4C3-410D-882C-61D8C44585C7}" presName="sibTrans" presStyleLbl="sibTrans2D1" presStyleIdx="0" presStyleCnt="5"/>
      <dgm:spPr/>
    </dgm:pt>
    <dgm:pt modelId="{F40D1464-169C-49B4-8982-3864A9686912}" type="pres">
      <dgm:prSet presAssocID="{724222E8-E4C3-410D-882C-61D8C44585C7}" presName="connectorText" presStyleLbl="sibTrans2D1" presStyleIdx="0" presStyleCnt="5"/>
      <dgm:spPr/>
    </dgm:pt>
    <dgm:pt modelId="{18A4B1C0-DF8C-4A7D-9616-C39B94DC6EF7}" type="pres">
      <dgm:prSet presAssocID="{4EB3C2AE-E1AA-4057-853C-937BA64B0D94}" presName="node" presStyleLbl="node1" presStyleIdx="1" presStyleCnt="6">
        <dgm:presLayoutVars>
          <dgm:bulletEnabled val="1"/>
        </dgm:presLayoutVars>
      </dgm:prSet>
      <dgm:spPr/>
    </dgm:pt>
    <dgm:pt modelId="{B04E91E5-074A-411F-9268-A6FD9BE5A030}" type="pres">
      <dgm:prSet presAssocID="{5D3AC225-9002-423B-B7FB-B3BAB482B06B}" presName="sibTrans" presStyleLbl="sibTrans2D1" presStyleIdx="1" presStyleCnt="5"/>
      <dgm:spPr/>
    </dgm:pt>
    <dgm:pt modelId="{34384C74-FDB6-44DF-9FF3-C567950D6035}" type="pres">
      <dgm:prSet presAssocID="{5D3AC225-9002-423B-B7FB-B3BAB482B06B}" presName="connectorText" presStyleLbl="sibTrans2D1" presStyleIdx="1" presStyleCnt="5"/>
      <dgm:spPr/>
    </dgm:pt>
    <dgm:pt modelId="{EB853A5C-2129-4312-A19D-62B06F744A4E}" type="pres">
      <dgm:prSet presAssocID="{B9EAF98B-2826-487A-B2A0-E2EC07698484}" presName="node" presStyleLbl="node1" presStyleIdx="2" presStyleCnt="6">
        <dgm:presLayoutVars>
          <dgm:bulletEnabled val="1"/>
        </dgm:presLayoutVars>
      </dgm:prSet>
      <dgm:spPr/>
    </dgm:pt>
    <dgm:pt modelId="{BB31CD94-CC89-43FA-B6B2-7805EBA3C655}" type="pres">
      <dgm:prSet presAssocID="{53A51216-4362-416A-876F-EE9831F0869A}" presName="sibTrans" presStyleLbl="sibTrans2D1" presStyleIdx="2" presStyleCnt="5"/>
      <dgm:spPr/>
    </dgm:pt>
    <dgm:pt modelId="{12B673B8-C2D1-4F93-A480-CFB0C33BA2B4}" type="pres">
      <dgm:prSet presAssocID="{53A51216-4362-416A-876F-EE9831F0869A}" presName="connectorText" presStyleLbl="sibTrans2D1" presStyleIdx="2" presStyleCnt="5"/>
      <dgm:spPr/>
    </dgm:pt>
    <dgm:pt modelId="{BE2A9841-52F7-4F6B-A455-B190203B94AC}" type="pres">
      <dgm:prSet presAssocID="{FFD3A0B1-3310-4F1C-8EB9-8DF0350067BD}" presName="node" presStyleLbl="node1" presStyleIdx="3" presStyleCnt="6">
        <dgm:presLayoutVars>
          <dgm:bulletEnabled val="1"/>
        </dgm:presLayoutVars>
      </dgm:prSet>
      <dgm:spPr/>
    </dgm:pt>
    <dgm:pt modelId="{C812962A-113B-4CE1-97FA-638B59ECCE63}" type="pres">
      <dgm:prSet presAssocID="{05D78CE8-5E1A-49A3-85BF-C5F3A35F2208}" presName="sibTrans" presStyleLbl="sibTrans2D1" presStyleIdx="3" presStyleCnt="5"/>
      <dgm:spPr/>
    </dgm:pt>
    <dgm:pt modelId="{ECBD02DC-2A94-467E-A9DF-93466B7DF5E1}" type="pres">
      <dgm:prSet presAssocID="{05D78CE8-5E1A-49A3-85BF-C5F3A35F2208}" presName="connectorText" presStyleLbl="sibTrans2D1" presStyleIdx="3" presStyleCnt="5"/>
      <dgm:spPr/>
    </dgm:pt>
    <dgm:pt modelId="{49A8DDFF-4D86-4B76-A3D7-C73A203973A9}" type="pres">
      <dgm:prSet presAssocID="{928036DA-B80A-4B64-99D4-F437D7181DC4}" presName="node" presStyleLbl="node1" presStyleIdx="4" presStyleCnt="6">
        <dgm:presLayoutVars>
          <dgm:bulletEnabled val="1"/>
        </dgm:presLayoutVars>
      </dgm:prSet>
      <dgm:spPr/>
    </dgm:pt>
    <dgm:pt modelId="{BDDAC3AB-E776-4802-808A-33500636B3E4}" type="pres">
      <dgm:prSet presAssocID="{F334A1F3-B817-4B91-88BA-EA995F76A24A}" presName="sibTrans" presStyleLbl="sibTrans2D1" presStyleIdx="4" presStyleCnt="5"/>
      <dgm:spPr/>
    </dgm:pt>
    <dgm:pt modelId="{64A46C7D-3D90-4DA6-A319-841880ED20BA}" type="pres">
      <dgm:prSet presAssocID="{F334A1F3-B817-4B91-88BA-EA995F76A24A}" presName="connectorText" presStyleLbl="sibTrans2D1" presStyleIdx="4" presStyleCnt="5"/>
      <dgm:spPr/>
    </dgm:pt>
    <dgm:pt modelId="{72B612AE-41F9-4170-BA18-BF5D1B5FFD28}" type="pres">
      <dgm:prSet presAssocID="{598F1322-6564-4993-B07F-A7963D1E4CAF}" presName="node" presStyleLbl="node1" presStyleIdx="5" presStyleCnt="6">
        <dgm:presLayoutVars>
          <dgm:bulletEnabled val="1"/>
        </dgm:presLayoutVars>
      </dgm:prSet>
      <dgm:spPr/>
    </dgm:pt>
  </dgm:ptLst>
  <dgm:cxnLst>
    <dgm:cxn modelId="{08648417-0AF6-4E36-9AF4-F9C0D22183AD}" type="presOf" srcId="{05D78CE8-5E1A-49A3-85BF-C5F3A35F2208}" destId="{ECBD02DC-2A94-467E-A9DF-93466B7DF5E1}" srcOrd="1" destOrd="0" presId="urn:microsoft.com/office/officeart/2005/8/layout/process5"/>
    <dgm:cxn modelId="{4F218029-5759-47E9-8918-F6B9AB30F2E0}" type="presOf" srcId="{F334A1F3-B817-4B91-88BA-EA995F76A24A}" destId="{BDDAC3AB-E776-4802-808A-33500636B3E4}" srcOrd="0" destOrd="0" presId="urn:microsoft.com/office/officeart/2005/8/layout/process5"/>
    <dgm:cxn modelId="{78E32132-26C5-4FB7-95C8-869AF7ED8B81}" type="presOf" srcId="{05D78CE8-5E1A-49A3-85BF-C5F3A35F2208}" destId="{C812962A-113B-4CE1-97FA-638B59ECCE63}" srcOrd="0" destOrd="0" presId="urn:microsoft.com/office/officeart/2005/8/layout/process5"/>
    <dgm:cxn modelId="{8EFC1B33-11E5-45FD-B0C8-D51F114BE726}" srcId="{550443C6-7144-4D21-BDD8-C1144459B9FE}" destId="{B9EAF98B-2826-487A-B2A0-E2EC07698484}" srcOrd="2" destOrd="0" parTransId="{973D8F75-72F3-4496-A7EB-653D4B8B6F6B}" sibTransId="{53A51216-4362-416A-876F-EE9831F0869A}"/>
    <dgm:cxn modelId="{83A91034-04CD-4B5A-A588-10A8073D411B}" srcId="{550443C6-7144-4D21-BDD8-C1144459B9FE}" destId="{928036DA-B80A-4B64-99D4-F437D7181DC4}" srcOrd="4" destOrd="0" parTransId="{4D4A93F7-5960-4875-A83B-4675C423F3F3}" sibTransId="{F334A1F3-B817-4B91-88BA-EA995F76A24A}"/>
    <dgm:cxn modelId="{99A3CA35-2C6B-4549-AD15-4D73B576999D}" type="presOf" srcId="{FFD3A0B1-3310-4F1C-8EB9-8DF0350067BD}" destId="{BE2A9841-52F7-4F6B-A455-B190203B94AC}" srcOrd="0" destOrd="0" presId="urn:microsoft.com/office/officeart/2005/8/layout/process5"/>
    <dgm:cxn modelId="{5B573638-7C2B-410C-9110-CED965BC44E1}" type="presOf" srcId="{B9EAF98B-2826-487A-B2A0-E2EC07698484}" destId="{EB853A5C-2129-4312-A19D-62B06F744A4E}" srcOrd="0" destOrd="0" presId="urn:microsoft.com/office/officeart/2005/8/layout/process5"/>
    <dgm:cxn modelId="{B80ADB6B-B729-4DDB-A3D8-F56C86424395}" type="presOf" srcId="{52A929DB-0FB1-48BA-BCF6-4F097B1BEB50}" destId="{D0C1D17B-541A-4FF1-AC92-D2E24BFC7478}" srcOrd="0" destOrd="0" presId="urn:microsoft.com/office/officeart/2005/8/layout/process5"/>
    <dgm:cxn modelId="{6D383E71-8194-4D98-8427-164133206A9F}" type="presOf" srcId="{5D3AC225-9002-423B-B7FB-B3BAB482B06B}" destId="{B04E91E5-074A-411F-9268-A6FD9BE5A030}" srcOrd="0" destOrd="0" presId="urn:microsoft.com/office/officeart/2005/8/layout/process5"/>
    <dgm:cxn modelId="{02BC6571-8D71-4862-9867-9743623D7B88}" type="presOf" srcId="{724222E8-E4C3-410D-882C-61D8C44585C7}" destId="{7AEC5055-7257-4467-B7F3-9235A3FF59C2}" srcOrd="0" destOrd="0" presId="urn:microsoft.com/office/officeart/2005/8/layout/process5"/>
    <dgm:cxn modelId="{8DAFAC72-3520-43AD-959A-C993A7112E6B}" type="presOf" srcId="{550443C6-7144-4D21-BDD8-C1144459B9FE}" destId="{DD40335B-52DC-4394-B17A-BA8615707EFD}" srcOrd="0" destOrd="0" presId="urn:microsoft.com/office/officeart/2005/8/layout/process5"/>
    <dgm:cxn modelId="{E2DB1A57-907E-4870-8D11-EC5809F7FD3B}" type="presOf" srcId="{53A51216-4362-416A-876F-EE9831F0869A}" destId="{BB31CD94-CC89-43FA-B6B2-7805EBA3C655}" srcOrd="0" destOrd="0" presId="urn:microsoft.com/office/officeart/2005/8/layout/process5"/>
    <dgm:cxn modelId="{F875F97C-9C52-4740-B4CC-75E3C22FB141}" type="presOf" srcId="{724222E8-E4C3-410D-882C-61D8C44585C7}" destId="{F40D1464-169C-49B4-8982-3864A9686912}" srcOrd="1" destOrd="0" presId="urn:microsoft.com/office/officeart/2005/8/layout/process5"/>
    <dgm:cxn modelId="{4598E991-0B61-4F6E-97B2-E2184D59FA2C}" type="presOf" srcId="{5D3AC225-9002-423B-B7FB-B3BAB482B06B}" destId="{34384C74-FDB6-44DF-9FF3-C567950D6035}" srcOrd="1" destOrd="0" presId="urn:microsoft.com/office/officeart/2005/8/layout/process5"/>
    <dgm:cxn modelId="{BC1B92AA-BC6D-4513-BDFE-EE1FC2522BEB}" srcId="{550443C6-7144-4D21-BDD8-C1144459B9FE}" destId="{598F1322-6564-4993-B07F-A7963D1E4CAF}" srcOrd="5" destOrd="0" parTransId="{AE81B592-374F-4B73-A1C4-58DC46707738}" sibTransId="{94669256-B5C0-49D6-942F-BC62AF963125}"/>
    <dgm:cxn modelId="{6E61FDAE-99FE-4078-9773-6784DAD78521}" type="presOf" srcId="{598F1322-6564-4993-B07F-A7963D1E4CAF}" destId="{72B612AE-41F9-4170-BA18-BF5D1B5FFD28}" srcOrd="0" destOrd="0" presId="urn:microsoft.com/office/officeart/2005/8/layout/process5"/>
    <dgm:cxn modelId="{697656AF-D646-48DB-8631-629F19429A4F}" srcId="{550443C6-7144-4D21-BDD8-C1144459B9FE}" destId="{52A929DB-0FB1-48BA-BCF6-4F097B1BEB50}" srcOrd="0" destOrd="0" parTransId="{F9EB4453-4B9B-4CC0-9E09-2C7A883AC82E}" sibTransId="{724222E8-E4C3-410D-882C-61D8C44585C7}"/>
    <dgm:cxn modelId="{7B0FEAB0-70B6-417F-9B67-6B5670A634C0}" srcId="{550443C6-7144-4D21-BDD8-C1144459B9FE}" destId="{FFD3A0B1-3310-4F1C-8EB9-8DF0350067BD}" srcOrd="3" destOrd="0" parTransId="{330DDF98-CCA7-4C39-88D6-58084769ED27}" sibTransId="{05D78CE8-5E1A-49A3-85BF-C5F3A35F2208}"/>
    <dgm:cxn modelId="{7FBCEACB-48FD-410D-8DBF-F76EB9DBA632}" type="presOf" srcId="{F334A1F3-B817-4B91-88BA-EA995F76A24A}" destId="{64A46C7D-3D90-4DA6-A319-841880ED20BA}" srcOrd="1" destOrd="0" presId="urn:microsoft.com/office/officeart/2005/8/layout/process5"/>
    <dgm:cxn modelId="{CD4A92F2-2330-4A64-A300-D2009482EBA0}" srcId="{550443C6-7144-4D21-BDD8-C1144459B9FE}" destId="{4EB3C2AE-E1AA-4057-853C-937BA64B0D94}" srcOrd="1" destOrd="0" parTransId="{A9F01E5F-CD1A-4812-B174-61ECAAA45B48}" sibTransId="{5D3AC225-9002-423B-B7FB-B3BAB482B06B}"/>
    <dgm:cxn modelId="{45FE93F5-F4F4-48EB-B56E-23B744E379D3}" type="presOf" srcId="{4EB3C2AE-E1AA-4057-853C-937BA64B0D94}" destId="{18A4B1C0-DF8C-4A7D-9616-C39B94DC6EF7}" srcOrd="0" destOrd="0" presId="urn:microsoft.com/office/officeart/2005/8/layout/process5"/>
    <dgm:cxn modelId="{86E3DAF6-D79D-44BE-95E5-5F35CC37B852}" type="presOf" srcId="{53A51216-4362-416A-876F-EE9831F0869A}" destId="{12B673B8-C2D1-4F93-A480-CFB0C33BA2B4}" srcOrd="1" destOrd="0" presId="urn:microsoft.com/office/officeart/2005/8/layout/process5"/>
    <dgm:cxn modelId="{F2515FFD-A019-48B6-8836-039E7CAE7D78}" type="presOf" srcId="{928036DA-B80A-4B64-99D4-F437D7181DC4}" destId="{49A8DDFF-4D86-4B76-A3D7-C73A203973A9}" srcOrd="0" destOrd="0" presId="urn:microsoft.com/office/officeart/2005/8/layout/process5"/>
    <dgm:cxn modelId="{A2B3C20F-D68A-4980-AB2F-F41DAFE5B2EE}" type="presParOf" srcId="{DD40335B-52DC-4394-B17A-BA8615707EFD}" destId="{D0C1D17B-541A-4FF1-AC92-D2E24BFC7478}" srcOrd="0" destOrd="0" presId="urn:microsoft.com/office/officeart/2005/8/layout/process5"/>
    <dgm:cxn modelId="{2B8D367A-6C00-44BC-9809-6038AD7AE521}" type="presParOf" srcId="{DD40335B-52DC-4394-B17A-BA8615707EFD}" destId="{7AEC5055-7257-4467-B7F3-9235A3FF59C2}" srcOrd="1" destOrd="0" presId="urn:microsoft.com/office/officeart/2005/8/layout/process5"/>
    <dgm:cxn modelId="{159F3DAF-BE5A-468E-A694-EC81B8613A6E}" type="presParOf" srcId="{7AEC5055-7257-4467-B7F3-9235A3FF59C2}" destId="{F40D1464-169C-49B4-8982-3864A9686912}" srcOrd="0" destOrd="0" presId="urn:microsoft.com/office/officeart/2005/8/layout/process5"/>
    <dgm:cxn modelId="{3B291698-A0C7-4528-891B-4065164370FD}" type="presParOf" srcId="{DD40335B-52DC-4394-B17A-BA8615707EFD}" destId="{18A4B1C0-DF8C-4A7D-9616-C39B94DC6EF7}" srcOrd="2" destOrd="0" presId="urn:microsoft.com/office/officeart/2005/8/layout/process5"/>
    <dgm:cxn modelId="{5427E76C-F91C-4669-8CDC-2C88B6FADBDD}" type="presParOf" srcId="{DD40335B-52DC-4394-B17A-BA8615707EFD}" destId="{B04E91E5-074A-411F-9268-A6FD9BE5A030}" srcOrd="3" destOrd="0" presId="urn:microsoft.com/office/officeart/2005/8/layout/process5"/>
    <dgm:cxn modelId="{C80DF770-6C7F-4E87-9C84-9F18229D4ADE}" type="presParOf" srcId="{B04E91E5-074A-411F-9268-A6FD9BE5A030}" destId="{34384C74-FDB6-44DF-9FF3-C567950D6035}" srcOrd="0" destOrd="0" presId="urn:microsoft.com/office/officeart/2005/8/layout/process5"/>
    <dgm:cxn modelId="{A66E7EA4-1D3D-48AB-B285-11D6D1D82EA3}" type="presParOf" srcId="{DD40335B-52DC-4394-B17A-BA8615707EFD}" destId="{EB853A5C-2129-4312-A19D-62B06F744A4E}" srcOrd="4" destOrd="0" presId="urn:microsoft.com/office/officeart/2005/8/layout/process5"/>
    <dgm:cxn modelId="{28C98EEC-2CC0-499D-A7F8-647F4D2D4DBB}" type="presParOf" srcId="{DD40335B-52DC-4394-B17A-BA8615707EFD}" destId="{BB31CD94-CC89-43FA-B6B2-7805EBA3C655}" srcOrd="5" destOrd="0" presId="urn:microsoft.com/office/officeart/2005/8/layout/process5"/>
    <dgm:cxn modelId="{A6D2E198-9806-4098-9C73-982BDA14222A}" type="presParOf" srcId="{BB31CD94-CC89-43FA-B6B2-7805EBA3C655}" destId="{12B673B8-C2D1-4F93-A480-CFB0C33BA2B4}" srcOrd="0" destOrd="0" presId="urn:microsoft.com/office/officeart/2005/8/layout/process5"/>
    <dgm:cxn modelId="{349DF3F4-D532-4AAF-A9C9-EB5919BA0047}" type="presParOf" srcId="{DD40335B-52DC-4394-B17A-BA8615707EFD}" destId="{BE2A9841-52F7-4F6B-A455-B190203B94AC}" srcOrd="6" destOrd="0" presId="urn:microsoft.com/office/officeart/2005/8/layout/process5"/>
    <dgm:cxn modelId="{3A656D0A-EDC0-43DA-83E4-D041B1975061}" type="presParOf" srcId="{DD40335B-52DC-4394-B17A-BA8615707EFD}" destId="{C812962A-113B-4CE1-97FA-638B59ECCE63}" srcOrd="7" destOrd="0" presId="urn:microsoft.com/office/officeart/2005/8/layout/process5"/>
    <dgm:cxn modelId="{16B12CEF-6A5E-4001-8D70-0884EBD9F491}" type="presParOf" srcId="{C812962A-113B-4CE1-97FA-638B59ECCE63}" destId="{ECBD02DC-2A94-467E-A9DF-93466B7DF5E1}" srcOrd="0" destOrd="0" presId="urn:microsoft.com/office/officeart/2005/8/layout/process5"/>
    <dgm:cxn modelId="{5A107F3F-A92F-4BB1-92C4-EFF64ACDC5AA}" type="presParOf" srcId="{DD40335B-52DC-4394-B17A-BA8615707EFD}" destId="{49A8DDFF-4D86-4B76-A3D7-C73A203973A9}" srcOrd="8" destOrd="0" presId="urn:microsoft.com/office/officeart/2005/8/layout/process5"/>
    <dgm:cxn modelId="{F2A6B1AB-8421-4459-8DA5-A32079173B2E}" type="presParOf" srcId="{DD40335B-52DC-4394-B17A-BA8615707EFD}" destId="{BDDAC3AB-E776-4802-808A-33500636B3E4}" srcOrd="9" destOrd="0" presId="urn:microsoft.com/office/officeart/2005/8/layout/process5"/>
    <dgm:cxn modelId="{C6F79136-4491-47CB-9D44-C398B9D86858}" type="presParOf" srcId="{BDDAC3AB-E776-4802-808A-33500636B3E4}" destId="{64A46C7D-3D90-4DA6-A319-841880ED20BA}" srcOrd="0" destOrd="0" presId="urn:microsoft.com/office/officeart/2005/8/layout/process5"/>
    <dgm:cxn modelId="{6C10ABA9-5D6E-42E8-8E01-CC1084FAAB60}" type="presParOf" srcId="{DD40335B-52DC-4394-B17A-BA8615707EFD}" destId="{72B612AE-41F9-4170-BA18-BF5D1B5FFD28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C1D17B-541A-4FF1-AC92-D2E24BFC7478}">
      <dsp:nvSpPr>
        <dsp:cNvPr id="0" name=""/>
        <dsp:cNvSpPr/>
      </dsp:nvSpPr>
      <dsp:spPr>
        <a:xfrm>
          <a:off x="355435" y="743"/>
          <a:ext cx="1494762" cy="8968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/>
            <a:t>Ingestion: Dataset Jeff-Sackmann (2000-2024)</a:t>
          </a:r>
        </a:p>
      </dsp:txBody>
      <dsp:txXfrm>
        <a:off x="381703" y="27011"/>
        <a:ext cx="1442226" cy="844321"/>
      </dsp:txXfrm>
    </dsp:sp>
    <dsp:sp modelId="{7AEC5055-7257-4467-B7F3-9235A3FF59C2}">
      <dsp:nvSpPr>
        <dsp:cNvPr id="0" name=""/>
        <dsp:cNvSpPr/>
      </dsp:nvSpPr>
      <dsp:spPr>
        <a:xfrm>
          <a:off x="1981736" y="263821"/>
          <a:ext cx="316889" cy="37070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000" kern="1200"/>
        </a:p>
      </dsp:txBody>
      <dsp:txXfrm>
        <a:off x="1981736" y="337961"/>
        <a:ext cx="221822" cy="222421"/>
      </dsp:txXfrm>
    </dsp:sp>
    <dsp:sp modelId="{18A4B1C0-DF8C-4A7D-9616-C39B94DC6EF7}">
      <dsp:nvSpPr>
        <dsp:cNvPr id="0" name=""/>
        <dsp:cNvSpPr/>
      </dsp:nvSpPr>
      <dsp:spPr>
        <a:xfrm>
          <a:off x="2448102" y="743"/>
          <a:ext cx="1494762" cy="8968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/>
            <a:t>Cleaning: gestione Null, conversione formati</a:t>
          </a:r>
        </a:p>
      </dsp:txBody>
      <dsp:txXfrm>
        <a:off x="2474370" y="27011"/>
        <a:ext cx="1442226" cy="844321"/>
      </dsp:txXfrm>
    </dsp:sp>
    <dsp:sp modelId="{B04E91E5-074A-411F-9268-A6FD9BE5A030}">
      <dsp:nvSpPr>
        <dsp:cNvPr id="0" name=""/>
        <dsp:cNvSpPr/>
      </dsp:nvSpPr>
      <dsp:spPr>
        <a:xfrm>
          <a:off x="4074403" y="263821"/>
          <a:ext cx="316889" cy="37070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000" kern="1200"/>
        </a:p>
      </dsp:txBody>
      <dsp:txXfrm>
        <a:off x="4074403" y="337961"/>
        <a:ext cx="221822" cy="222421"/>
      </dsp:txXfrm>
    </dsp:sp>
    <dsp:sp modelId="{EB853A5C-2129-4312-A19D-62B06F744A4E}">
      <dsp:nvSpPr>
        <dsp:cNvPr id="0" name=""/>
        <dsp:cNvSpPr/>
      </dsp:nvSpPr>
      <dsp:spPr>
        <a:xfrm>
          <a:off x="4540769" y="743"/>
          <a:ext cx="1494762" cy="8968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 dirty="0"/>
            <a:t>Feature Engineering: Calcolo ELO, diff features</a:t>
          </a:r>
        </a:p>
      </dsp:txBody>
      <dsp:txXfrm>
        <a:off x="4567037" y="27011"/>
        <a:ext cx="1442226" cy="844321"/>
      </dsp:txXfrm>
    </dsp:sp>
    <dsp:sp modelId="{BB31CD94-CC89-43FA-B6B2-7805EBA3C655}">
      <dsp:nvSpPr>
        <dsp:cNvPr id="0" name=""/>
        <dsp:cNvSpPr/>
      </dsp:nvSpPr>
      <dsp:spPr>
        <a:xfrm rot="5400000">
          <a:off x="5129705" y="1002233"/>
          <a:ext cx="316889" cy="37070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000" kern="1200"/>
        </a:p>
      </dsp:txBody>
      <dsp:txXfrm rot="-5400000">
        <a:off x="5176940" y="1029139"/>
        <a:ext cx="222421" cy="221822"/>
      </dsp:txXfrm>
    </dsp:sp>
    <dsp:sp modelId="{BE2A9841-52F7-4F6B-A455-B190203B94AC}">
      <dsp:nvSpPr>
        <dsp:cNvPr id="0" name=""/>
        <dsp:cNvSpPr/>
      </dsp:nvSpPr>
      <dsp:spPr>
        <a:xfrm>
          <a:off x="4540769" y="1495505"/>
          <a:ext cx="1494762" cy="8968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/>
            <a:t>Modeling: Decision Tree, MLP</a:t>
          </a:r>
        </a:p>
      </dsp:txBody>
      <dsp:txXfrm>
        <a:off x="4567037" y="1521773"/>
        <a:ext cx="1442226" cy="844321"/>
      </dsp:txXfrm>
    </dsp:sp>
    <dsp:sp modelId="{C812962A-113B-4CE1-97FA-638B59ECCE63}">
      <dsp:nvSpPr>
        <dsp:cNvPr id="0" name=""/>
        <dsp:cNvSpPr/>
      </dsp:nvSpPr>
      <dsp:spPr>
        <a:xfrm rot="10800000">
          <a:off x="4092340" y="1758583"/>
          <a:ext cx="316889" cy="37070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000" kern="1200"/>
        </a:p>
      </dsp:txBody>
      <dsp:txXfrm rot="10800000">
        <a:off x="4187407" y="1832723"/>
        <a:ext cx="221822" cy="222421"/>
      </dsp:txXfrm>
    </dsp:sp>
    <dsp:sp modelId="{49A8DDFF-4D86-4B76-A3D7-C73A203973A9}">
      <dsp:nvSpPr>
        <dsp:cNvPr id="0" name=""/>
        <dsp:cNvSpPr/>
      </dsp:nvSpPr>
      <dsp:spPr>
        <a:xfrm>
          <a:off x="2448102" y="1495505"/>
          <a:ext cx="1494762" cy="8968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/>
            <a:t>Validation: Differenze prestazionali</a:t>
          </a:r>
        </a:p>
      </dsp:txBody>
      <dsp:txXfrm>
        <a:off x="2474370" y="1521773"/>
        <a:ext cx="1442226" cy="844321"/>
      </dsp:txXfrm>
    </dsp:sp>
    <dsp:sp modelId="{BDDAC3AB-E776-4802-808A-33500636B3E4}">
      <dsp:nvSpPr>
        <dsp:cNvPr id="0" name=""/>
        <dsp:cNvSpPr/>
      </dsp:nvSpPr>
      <dsp:spPr>
        <a:xfrm rot="10800000">
          <a:off x="1999673" y="1758583"/>
          <a:ext cx="316889" cy="37070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000" kern="1200"/>
        </a:p>
      </dsp:txBody>
      <dsp:txXfrm rot="10800000">
        <a:off x="2094740" y="1832723"/>
        <a:ext cx="221822" cy="222421"/>
      </dsp:txXfrm>
    </dsp:sp>
    <dsp:sp modelId="{72B612AE-41F9-4170-BA18-BF5D1B5FFD28}">
      <dsp:nvSpPr>
        <dsp:cNvPr id="0" name=""/>
        <dsp:cNvSpPr/>
      </dsp:nvSpPr>
      <dsp:spPr>
        <a:xfrm>
          <a:off x="355435" y="1495505"/>
          <a:ext cx="1494762" cy="8968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/>
            <a:t>Caso di Studio: Australian Open 2025</a:t>
          </a:r>
        </a:p>
      </dsp:txBody>
      <dsp:txXfrm>
        <a:off x="381703" y="1521773"/>
        <a:ext cx="1442226" cy="8443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9C0B50-2AF7-16E9-F58D-B71AF2CFCF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B3D36C6-CA06-F631-B68B-624881FB33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FCC9322-7000-49BB-10DD-5C2A9D4BF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C6F1-D868-4714-B3C0-F93AC44EDA34}" type="datetimeFigureOut">
              <a:rPr lang="it-IT" smtClean="0"/>
              <a:t>15/01/2026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C912DF3-AD1C-6E17-C028-E6A21C533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22162B9-3C0B-0A5A-DD79-F01FBA4D9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833F9-C1FA-4570-8174-06CE7DE5522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0676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3C6ABF-6F91-2FC3-50AE-B7EA933EB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1F05951-D6C0-70D9-A7E4-F4DB173A1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6E9F4EF-A1FF-AE1A-38BC-87BA15577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C6F1-D868-4714-B3C0-F93AC44EDA34}" type="datetimeFigureOut">
              <a:rPr lang="it-IT" smtClean="0"/>
              <a:t>15/01/2026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47AAE73-18E2-7D41-F059-969643733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208C0AB-92B4-A018-73C6-7C7F6C16B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833F9-C1FA-4570-8174-06CE7DE5522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00779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4BC527-8F2C-F18E-B718-BEEEE97D3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5785E86-3316-4A87-4597-EB6D00D06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C23F2A1-54D7-02D1-5F14-EEEB865AC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C6F1-D868-4714-B3C0-F93AC44EDA34}" type="datetimeFigureOut">
              <a:rPr lang="it-IT" smtClean="0"/>
              <a:t>15/01/2026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4B28FE7-DC0C-5413-990A-8C4DE866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0E7FA84-7B6A-B4F0-2E87-67DD158C1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833F9-C1FA-4570-8174-06CE7DE5522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306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3BB5F2-0B93-8305-7C08-8EEE0513C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26AF6FD-12FB-C36E-351F-538A707437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8CC7474-4689-0ED5-A1FD-A8A62123B9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EDC190F-5EEC-403C-DF74-FCBE897B5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C6F1-D868-4714-B3C0-F93AC44EDA34}" type="datetimeFigureOut">
              <a:rPr lang="it-IT" smtClean="0"/>
              <a:t>15/01/2026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9633689-605D-14BD-FDA8-D2A9A33B8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D0DA4CA-6C14-6A1F-8B90-9822D66A7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833F9-C1FA-4570-8174-06CE7DE5522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00197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F2E4869-510E-4057-C19A-A0567B927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514F878-B460-9174-3425-F6140A7930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A801DCE-57F8-D274-1D03-49530768B9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FC985693-7444-CB22-8CA4-B1810B639E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1B2EFA3F-C0CE-EF2A-2364-2CB103192F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F2E33A32-A96B-CA84-91F2-58CA4708B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C6F1-D868-4714-B3C0-F93AC44EDA34}" type="datetimeFigureOut">
              <a:rPr lang="it-IT" smtClean="0"/>
              <a:t>15/01/2026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0D675D7F-DF72-8A1F-13BC-C28BF39EE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7B6F41C7-6430-5361-00F4-B26C385BA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833F9-C1FA-4570-8174-06CE7DE5522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86127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BA1DA9-BBD9-D7EA-2865-987767238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E0759D9-6ECB-E7C9-37F1-CCEF1B9E9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C6F1-D868-4714-B3C0-F93AC44EDA34}" type="datetimeFigureOut">
              <a:rPr lang="it-IT" smtClean="0"/>
              <a:t>15/01/2026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E391F4B-F972-AE7A-BC38-1DD728272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7C99B1F-E11F-753A-1FDF-8B1DFAF05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833F9-C1FA-4570-8174-06CE7DE5522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2876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EC17469-552B-A32D-26F8-850FAE28C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C6F1-D868-4714-B3C0-F93AC44EDA34}" type="datetimeFigureOut">
              <a:rPr lang="it-IT" smtClean="0"/>
              <a:t>15/01/2026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8CF6D47-4D38-3283-6831-A8E1C75AB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0388F6A-7B72-51F9-A693-FC4D038FF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833F9-C1FA-4570-8174-06CE7DE5522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01521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830135-EB82-3A03-48F1-9F7DEDF0B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9B34B44-2344-D262-9D12-CE7288C89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FEEF245-9B4C-BD9D-7BED-8D7A956002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2792704-1533-DC85-B1CB-48C03D255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C6F1-D868-4714-B3C0-F93AC44EDA34}" type="datetimeFigureOut">
              <a:rPr lang="it-IT" smtClean="0"/>
              <a:t>15/01/2026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3C3B3F-FE52-5AA0-789C-FB471BA4C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DC776D3-7BCC-A056-17EB-43795E01C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833F9-C1FA-4570-8174-06CE7DE5522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61409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A7A901-5A04-49DA-B15B-9F813D432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DB991E02-F03D-2053-F787-83EFC5238D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9749D24-0B0B-5EE4-9A80-1371DB5F11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5C4B7DB-D2FB-2DC9-54A8-102D37481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C6F1-D868-4714-B3C0-F93AC44EDA34}" type="datetimeFigureOut">
              <a:rPr lang="it-IT" smtClean="0"/>
              <a:t>15/01/2026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BCF5AEA-F260-6A07-3532-3931E669C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81EDC57-9B57-4ED9-3CE0-0C4575BC3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833F9-C1FA-4570-8174-06CE7DE5522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7234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E44214-86C7-760C-4150-B687A9515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5CD35E9-7222-55DA-ED81-8207247F31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E25B003-422F-123C-12F1-AB5CC9C91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C6F1-D868-4714-B3C0-F93AC44EDA34}" type="datetimeFigureOut">
              <a:rPr lang="it-IT" smtClean="0"/>
              <a:t>15/01/2026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7458E77-40E7-CE87-2307-501553964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C6D5A03-927A-17AF-960B-0A9734C12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833F9-C1FA-4570-8174-06CE7DE5522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35548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0901EFF2-2ADC-0A24-A121-24032FF068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CD80A43C-25D6-1E40-657C-08DBC762F7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B0B87B2-6C80-5584-FC55-F240D533E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C6F1-D868-4714-B3C0-F93AC44EDA34}" type="datetimeFigureOut">
              <a:rPr lang="it-IT" smtClean="0"/>
              <a:t>15/01/2026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D85F6DA-C77C-1112-C448-66564765C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944EC8B-BF20-F6AB-7A72-2A4F7F64A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833F9-C1FA-4570-8174-06CE7DE5522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8172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61B292D-6780-649A-643C-FB6F0991A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58FA630-EB7C-15D4-FB03-4973B3EBE6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B7DD42F-6D2F-C446-7584-FED1A704BA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2AC6F1-D868-4714-B3C0-F93AC44EDA34}" type="datetimeFigureOut">
              <a:rPr lang="it-IT" smtClean="0"/>
              <a:t>15/01/2026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E2B26AD-07E6-AC68-612E-5272FC3976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EBBE906-41E0-FAD1-63DF-AC0683F88F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A833F9-C1FA-4570-8174-06CE7DE5522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75792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magine 13" descr="Immagine che contiene sport, gioco atletico, racchetta, attrezzature sportive">
            <a:extLst>
              <a:ext uri="{FF2B5EF4-FFF2-40B4-BE49-F238E27FC236}">
                <a16:creationId xmlns:a16="http://schemas.microsoft.com/office/drawing/2014/main" id="{29B0BA48-D10A-4E62-E463-D0E3EE1368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685" b="10445"/>
          <a:stretch>
            <a:fillRect/>
          </a:stretch>
        </p:blipFill>
        <p:spPr>
          <a:xfrm>
            <a:off x="0" y="-1"/>
            <a:ext cx="12192000" cy="6096182"/>
          </a:xfrm>
          <a:custGeom>
            <a:avLst/>
            <a:gdLst/>
            <a:ahLst/>
            <a:cxnLst/>
            <a:rect l="l" t="t" r="r" b="b"/>
            <a:pathLst>
              <a:path w="12192000" h="6096182">
                <a:moveTo>
                  <a:pt x="2010645" y="5675743"/>
                </a:moveTo>
                <a:lnTo>
                  <a:pt x="2010645" y="6002421"/>
                </a:lnTo>
                <a:lnTo>
                  <a:pt x="2081338" y="6002421"/>
                </a:lnTo>
                <a:cubicBezTo>
                  <a:pt x="2116809" y="6002421"/>
                  <a:pt x="2146264" y="5996406"/>
                  <a:pt x="2169705" y="5984375"/>
                </a:cubicBezTo>
                <a:cubicBezTo>
                  <a:pt x="2193145" y="5972345"/>
                  <a:pt x="2210694" y="5954114"/>
                  <a:pt x="2222352" y="5929681"/>
                </a:cubicBezTo>
                <a:cubicBezTo>
                  <a:pt x="2234011" y="5905248"/>
                  <a:pt x="2239840" y="5874429"/>
                  <a:pt x="2239840" y="5837222"/>
                </a:cubicBezTo>
                <a:cubicBezTo>
                  <a:pt x="2239840" y="5801751"/>
                  <a:pt x="2233576" y="5772047"/>
                  <a:pt x="2221050" y="5748111"/>
                </a:cubicBezTo>
                <a:cubicBezTo>
                  <a:pt x="2208524" y="5724174"/>
                  <a:pt x="2190478" y="5706129"/>
                  <a:pt x="2166914" y="5693974"/>
                </a:cubicBezTo>
                <a:cubicBezTo>
                  <a:pt x="2143349" y="5681820"/>
                  <a:pt x="2114824" y="5675743"/>
                  <a:pt x="2081338" y="5675743"/>
                </a:cubicBezTo>
                <a:close/>
                <a:moveTo>
                  <a:pt x="1086720" y="5675371"/>
                </a:moveTo>
                <a:lnTo>
                  <a:pt x="1086720" y="5811549"/>
                </a:lnTo>
                <a:lnTo>
                  <a:pt x="1170807" y="5811549"/>
                </a:lnTo>
                <a:cubicBezTo>
                  <a:pt x="1187178" y="5811549"/>
                  <a:pt x="1201255" y="5808944"/>
                  <a:pt x="1213037" y="5803735"/>
                </a:cubicBezTo>
                <a:cubicBezTo>
                  <a:pt x="1224820" y="5798526"/>
                  <a:pt x="1233935" y="5790713"/>
                  <a:pt x="1240385" y="5780295"/>
                </a:cubicBezTo>
                <a:cubicBezTo>
                  <a:pt x="1246834" y="5769877"/>
                  <a:pt x="1250058" y="5757102"/>
                  <a:pt x="1250058" y="5741972"/>
                </a:cubicBezTo>
                <a:cubicBezTo>
                  <a:pt x="1250058" y="5719895"/>
                  <a:pt x="1243361" y="5703276"/>
                  <a:pt x="1229967" y="5692114"/>
                </a:cubicBezTo>
                <a:cubicBezTo>
                  <a:pt x="1216572" y="5680952"/>
                  <a:pt x="1198837" y="5675371"/>
                  <a:pt x="1176760" y="5675371"/>
                </a:cubicBezTo>
                <a:close/>
                <a:moveTo>
                  <a:pt x="629519" y="5673139"/>
                </a:moveTo>
                <a:lnTo>
                  <a:pt x="629519" y="5827176"/>
                </a:lnTo>
                <a:lnTo>
                  <a:pt x="711747" y="5827176"/>
                </a:lnTo>
                <a:cubicBezTo>
                  <a:pt x="736056" y="5827176"/>
                  <a:pt x="755713" y="5820726"/>
                  <a:pt x="770720" y="5807828"/>
                </a:cubicBezTo>
                <a:cubicBezTo>
                  <a:pt x="785727" y="5794930"/>
                  <a:pt x="793230" y="5775830"/>
                  <a:pt x="793230" y="5750529"/>
                </a:cubicBezTo>
                <a:cubicBezTo>
                  <a:pt x="793230" y="5724236"/>
                  <a:pt x="785541" y="5704765"/>
                  <a:pt x="770162" y="5692114"/>
                </a:cubicBezTo>
                <a:cubicBezTo>
                  <a:pt x="754783" y="5679464"/>
                  <a:pt x="735311" y="5673139"/>
                  <a:pt x="711747" y="5673139"/>
                </a:cubicBezTo>
                <a:close/>
                <a:moveTo>
                  <a:pt x="4041628" y="5669046"/>
                </a:moveTo>
                <a:cubicBezTo>
                  <a:pt x="4008885" y="5669046"/>
                  <a:pt x="3982530" y="5676735"/>
                  <a:pt x="3962563" y="5692114"/>
                </a:cubicBezTo>
                <a:cubicBezTo>
                  <a:pt x="3942595" y="5707493"/>
                  <a:pt x="3928084" y="5728081"/>
                  <a:pt x="3919030" y="5753878"/>
                </a:cubicBezTo>
                <a:cubicBezTo>
                  <a:pt x="3909977" y="5779675"/>
                  <a:pt x="3905450" y="5808200"/>
                  <a:pt x="3905450" y="5839454"/>
                </a:cubicBezTo>
                <a:cubicBezTo>
                  <a:pt x="3905450" y="5870212"/>
                  <a:pt x="3909977" y="5898489"/>
                  <a:pt x="3919030" y="5924286"/>
                </a:cubicBezTo>
                <a:cubicBezTo>
                  <a:pt x="3928084" y="5950083"/>
                  <a:pt x="3942595" y="5970671"/>
                  <a:pt x="3962563" y="5986050"/>
                </a:cubicBezTo>
                <a:cubicBezTo>
                  <a:pt x="3982530" y="6001429"/>
                  <a:pt x="4008885" y="6009118"/>
                  <a:pt x="4041628" y="6009118"/>
                </a:cubicBezTo>
                <a:cubicBezTo>
                  <a:pt x="4074122" y="6009118"/>
                  <a:pt x="4100290" y="6001429"/>
                  <a:pt x="4120134" y="5986050"/>
                </a:cubicBezTo>
                <a:cubicBezTo>
                  <a:pt x="4139978" y="5970671"/>
                  <a:pt x="4154489" y="5950083"/>
                  <a:pt x="4163667" y="5924286"/>
                </a:cubicBezTo>
                <a:cubicBezTo>
                  <a:pt x="4172844" y="5898489"/>
                  <a:pt x="4177433" y="5870212"/>
                  <a:pt x="4177433" y="5839454"/>
                </a:cubicBezTo>
                <a:cubicBezTo>
                  <a:pt x="4177433" y="5808200"/>
                  <a:pt x="4172844" y="5779675"/>
                  <a:pt x="4163667" y="5753878"/>
                </a:cubicBezTo>
                <a:cubicBezTo>
                  <a:pt x="4154489" y="5728081"/>
                  <a:pt x="4139978" y="5707493"/>
                  <a:pt x="4120134" y="5692114"/>
                </a:cubicBezTo>
                <a:cubicBezTo>
                  <a:pt x="4100290" y="5676735"/>
                  <a:pt x="4074122" y="5669046"/>
                  <a:pt x="4041628" y="5669046"/>
                </a:cubicBezTo>
                <a:close/>
                <a:moveTo>
                  <a:pt x="4382593" y="5588679"/>
                </a:moveTo>
                <a:lnTo>
                  <a:pt x="4484912" y="5588679"/>
                </a:lnTo>
                <a:lnTo>
                  <a:pt x="4715223" y="5926146"/>
                </a:lnTo>
                <a:lnTo>
                  <a:pt x="4715223" y="5588679"/>
                </a:lnTo>
                <a:lnTo>
                  <a:pt x="4813822" y="5588679"/>
                </a:lnTo>
                <a:lnTo>
                  <a:pt x="4813822" y="6089485"/>
                </a:lnTo>
                <a:lnTo>
                  <a:pt x="4711131" y="6089485"/>
                </a:lnTo>
                <a:lnTo>
                  <a:pt x="4480447" y="5749785"/>
                </a:lnTo>
                <a:lnTo>
                  <a:pt x="4480447" y="6089485"/>
                </a:lnTo>
                <a:lnTo>
                  <a:pt x="4382593" y="6089485"/>
                </a:lnTo>
                <a:close/>
                <a:moveTo>
                  <a:pt x="3592018" y="5588679"/>
                </a:moveTo>
                <a:lnTo>
                  <a:pt x="3696569" y="5588679"/>
                </a:lnTo>
                <a:lnTo>
                  <a:pt x="3696569" y="6089485"/>
                </a:lnTo>
                <a:lnTo>
                  <a:pt x="3592018" y="6089485"/>
                </a:lnTo>
                <a:close/>
                <a:moveTo>
                  <a:pt x="3157812" y="5588679"/>
                </a:moveTo>
                <a:lnTo>
                  <a:pt x="3529510" y="5588679"/>
                </a:lnTo>
                <a:lnTo>
                  <a:pt x="3529510" y="5675743"/>
                </a:lnTo>
                <a:lnTo>
                  <a:pt x="3396309" y="5675743"/>
                </a:lnTo>
                <a:lnTo>
                  <a:pt x="3396309" y="6089485"/>
                </a:lnTo>
                <a:lnTo>
                  <a:pt x="3291757" y="6089485"/>
                </a:lnTo>
                <a:lnTo>
                  <a:pt x="3291757" y="5675743"/>
                </a:lnTo>
                <a:lnTo>
                  <a:pt x="3157812" y="5675743"/>
                </a:lnTo>
                <a:close/>
                <a:moveTo>
                  <a:pt x="2449018" y="5588679"/>
                </a:moveTo>
                <a:lnTo>
                  <a:pt x="2553570" y="5588679"/>
                </a:lnTo>
                <a:lnTo>
                  <a:pt x="2553570" y="6089485"/>
                </a:lnTo>
                <a:lnTo>
                  <a:pt x="2449018" y="6089485"/>
                </a:lnTo>
                <a:close/>
                <a:moveTo>
                  <a:pt x="1906093" y="5588679"/>
                </a:moveTo>
                <a:lnTo>
                  <a:pt x="2092500" y="5588679"/>
                </a:lnTo>
                <a:cubicBezTo>
                  <a:pt x="2146078" y="5588679"/>
                  <a:pt x="2191905" y="5598600"/>
                  <a:pt x="2229980" y="5618444"/>
                </a:cubicBezTo>
                <a:cubicBezTo>
                  <a:pt x="2268055" y="5638288"/>
                  <a:pt x="2297139" y="5666813"/>
                  <a:pt x="2317231" y="5704020"/>
                </a:cubicBezTo>
                <a:cubicBezTo>
                  <a:pt x="2337322" y="5741227"/>
                  <a:pt x="2347368" y="5785876"/>
                  <a:pt x="2347368" y="5837966"/>
                </a:cubicBezTo>
                <a:cubicBezTo>
                  <a:pt x="2347368" y="5891792"/>
                  <a:pt x="2337198" y="5937432"/>
                  <a:pt x="2316858" y="5974888"/>
                </a:cubicBezTo>
                <a:cubicBezTo>
                  <a:pt x="2296519" y="6012343"/>
                  <a:pt x="2267311" y="6040806"/>
                  <a:pt x="2229236" y="6060278"/>
                </a:cubicBezTo>
                <a:cubicBezTo>
                  <a:pt x="2191160" y="6079749"/>
                  <a:pt x="2145582" y="6089485"/>
                  <a:pt x="2092500" y="6089485"/>
                </a:cubicBezTo>
                <a:lnTo>
                  <a:pt x="1906093" y="6089485"/>
                </a:lnTo>
                <a:close/>
                <a:moveTo>
                  <a:pt x="1467943" y="5588679"/>
                </a:moveTo>
                <a:lnTo>
                  <a:pt x="1803922" y="5588679"/>
                </a:lnTo>
                <a:lnTo>
                  <a:pt x="1803922" y="5675371"/>
                </a:lnTo>
                <a:lnTo>
                  <a:pt x="1572494" y="5675371"/>
                </a:lnTo>
                <a:lnTo>
                  <a:pt x="1572494" y="5791829"/>
                </a:lnTo>
                <a:lnTo>
                  <a:pt x="1782342" y="5791829"/>
                </a:lnTo>
                <a:lnTo>
                  <a:pt x="1782342" y="5875545"/>
                </a:lnTo>
                <a:lnTo>
                  <a:pt x="1572494" y="5875545"/>
                </a:lnTo>
                <a:lnTo>
                  <a:pt x="1572494" y="6002793"/>
                </a:lnTo>
                <a:lnTo>
                  <a:pt x="1803922" y="6002793"/>
                </a:lnTo>
                <a:lnTo>
                  <a:pt x="1803922" y="6089485"/>
                </a:lnTo>
                <a:lnTo>
                  <a:pt x="1467943" y="6089485"/>
                </a:lnTo>
                <a:close/>
                <a:moveTo>
                  <a:pt x="982168" y="5588679"/>
                </a:moveTo>
                <a:lnTo>
                  <a:pt x="1188295" y="5588679"/>
                </a:lnTo>
                <a:cubicBezTo>
                  <a:pt x="1220541" y="5588679"/>
                  <a:pt x="1249314" y="5593205"/>
                  <a:pt x="1274615" y="5602259"/>
                </a:cubicBezTo>
                <a:cubicBezTo>
                  <a:pt x="1299916" y="5611313"/>
                  <a:pt x="1319946" y="5625948"/>
                  <a:pt x="1334704" y="5646163"/>
                </a:cubicBezTo>
                <a:cubicBezTo>
                  <a:pt x="1349463" y="5666379"/>
                  <a:pt x="1356843" y="5693230"/>
                  <a:pt x="1356843" y="5726717"/>
                </a:cubicBezTo>
                <a:cubicBezTo>
                  <a:pt x="1356843" y="5758467"/>
                  <a:pt x="1348347" y="5785380"/>
                  <a:pt x="1331356" y="5807456"/>
                </a:cubicBezTo>
                <a:cubicBezTo>
                  <a:pt x="1314365" y="5829532"/>
                  <a:pt x="1288629" y="5845283"/>
                  <a:pt x="1254151" y="5854709"/>
                </a:cubicBezTo>
                <a:cubicBezTo>
                  <a:pt x="1275235" y="5857934"/>
                  <a:pt x="1292102" y="5864321"/>
                  <a:pt x="1304753" y="5873870"/>
                </a:cubicBezTo>
                <a:cubicBezTo>
                  <a:pt x="1317403" y="5883420"/>
                  <a:pt x="1327635" y="5896257"/>
                  <a:pt x="1335448" y="5912380"/>
                </a:cubicBezTo>
                <a:cubicBezTo>
                  <a:pt x="1343262" y="5928503"/>
                  <a:pt x="1350393" y="5948346"/>
                  <a:pt x="1356843" y="5971911"/>
                </a:cubicBezTo>
                <a:lnTo>
                  <a:pt x="1389957" y="6089485"/>
                </a:lnTo>
                <a:lnTo>
                  <a:pt x="1280568" y="6089485"/>
                </a:lnTo>
                <a:lnTo>
                  <a:pt x="1257128" y="5992747"/>
                </a:lnTo>
                <a:cubicBezTo>
                  <a:pt x="1252167" y="5970919"/>
                  <a:pt x="1246462" y="5953059"/>
                  <a:pt x="1240012" y="5939169"/>
                </a:cubicBezTo>
                <a:cubicBezTo>
                  <a:pt x="1233563" y="5925278"/>
                  <a:pt x="1224820" y="5914922"/>
                  <a:pt x="1213782" y="5908101"/>
                </a:cubicBezTo>
                <a:cubicBezTo>
                  <a:pt x="1202743" y="5901280"/>
                  <a:pt x="1187551" y="5897869"/>
                  <a:pt x="1168203" y="5897869"/>
                </a:cubicBezTo>
                <a:lnTo>
                  <a:pt x="1086720" y="5897869"/>
                </a:lnTo>
                <a:lnTo>
                  <a:pt x="1086720" y="6089485"/>
                </a:lnTo>
                <a:lnTo>
                  <a:pt x="982168" y="6089485"/>
                </a:lnTo>
                <a:close/>
                <a:moveTo>
                  <a:pt x="524968" y="5588679"/>
                </a:moveTo>
                <a:lnTo>
                  <a:pt x="721421" y="5588679"/>
                </a:lnTo>
                <a:cubicBezTo>
                  <a:pt x="754411" y="5588679"/>
                  <a:pt x="784487" y="5594508"/>
                  <a:pt x="811648" y="5606166"/>
                </a:cubicBezTo>
                <a:cubicBezTo>
                  <a:pt x="838809" y="5617824"/>
                  <a:pt x="860451" y="5635559"/>
                  <a:pt x="876574" y="5659372"/>
                </a:cubicBezTo>
                <a:cubicBezTo>
                  <a:pt x="892697" y="5683184"/>
                  <a:pt x="900759" y="5713570"/>
                  <a:pt x="900759" y="5750529"/>
                </a:cubicBezTo>
                <a:cubicBezTo>
                  <a:pt x="900759" y="5786992"/>
                  <a:pt x="892697" y="5817130"/>
                  <a:pt x="876574" y="5840942"/>
                </a:cubicBezTo>
                <a:cubicBezTo>
                  <a:pt x="860451" y="5864755"/>
                  <a:pt x="838809" y="5882428"/>
                  <a:pt x="811648" y="5893962"/>
                </a:cubicBezTo>
                <a:cubicBezTo>
                  <a:pt x="784487" y="5905496"/>
                  <a:pt x="754411" y="5911264"/>
                  <a:pt x="721421" y="5911264"/>
                </a:cubicBezTo>
                <a:lnTo>
                  <a:pt x="629519" y="5911264"/>
                </a:lnTo>
                <a:lnTo>
                  <a:pt x="629519" y="6089485"/>
                </a:lnTo>
                <a:lnTo>
                  <a:pt x="524968" y="6089485"/>
                </a:lnTo>
                <a:close/>
                <a:moveTo>
                  <a:pt x="4041628" y="5581981"/>
                </a:moveTo>
                <a:cubicBezTo>
                  <a:pt x="4093965" y="5581981"/>
                  <a:pt x="4138241" y="5592585"/>
                  <a:pt x="4174457" y="5613793"/>
                </a:cubicBezTo>
                <a:cubicBezTo>
                  <a:pt x="4210671" y="5635001"/>
                  <a:pt x="4238205" y="5664891"/>
                  <a:pt x="4257056" y="5703462"/>
                </a:cubicBezTo>
                <a:cubicBezTo>
                  <a:pt x="4275907" y="5742034"/>
                  <a:pt x="4285333" y="5787364"/>
                  <a:pt x="4285333" y="5839454"/>
                </a:cubicBezTo>
                <a:cubicBezTo>
                  <a:pt x="4285333" y="5891544"/>
                  <a:pt x="4275907" y="5936750"/>
                  <a:pt x="4257056" y="5975074"/>
                </a:cubicBezTo>
                <a:cubicBezTo>
                  <a:pt x="4238205" y="6013397"/>
                  <a:pt x="4210671" y="6043162"/>
                  <a:pt x="4174457" y="6064370"/>
                </a:cubicBezTo>
                <a:cubicBezTo>
                  <a:pt x="4138241" y="6085578"/>
                  <a:pt x="4093965" y="6096182"/>
                  <a:pt x="4041628" y="6096182"/>
                </a:cubicBezTo>
                <a:cubicBezTo>
                  <a:pt x="3989290" y="6096182"/>
                  <a:pt x="3944951" y="6085578"/>
                  <a:pt x="3908612" y="6064370"/>
                </a:cubicBezTo>
                <a:cubicBezTo>
                  <a:pt x="3872274" y="6043162"/>
                  <a:pt x="3844678" y="6013397"/>
                  <a:pt x="3825827" y="5975074"/>
                </a:cubicBezTo>
                <a:cubicBezTo>
                  <a:pt x="3806975" y="5936750"/>
                  <a:pt x="3797549" y="5891544"/>
                  <a:pt x="3797549" y="5839454"/>
                </a:cubicBezTo>
                <a:cubicBezTo>
                  <a:pt x="3797549" y="5787364"/>
                  <a:pt x="3806975" y="5742034"/>
                  <a:pt x="3825827" y="5703462"/>
                </a:cubicBezTo>
                <a:cubicBezTo>
                  <a:pt x="3844678" y="5664891"/>
                  <a:pt x="3872274" y="5635001"/>
                  <a:pt x="3908612" y="5613793"/>
                </a:cubicBezTo>
                <a:cubicBezTo>
                  <a:pt x="3944951" y="5592585"/>
                  <a:pt x="3989290" y="5581981"/>
                  <a:pt x="4041628" y="5581981"/>
                </a:cubicBezTo>
                <a:close/>
                <a:moveTo>
                  <a:pt x="2898627" y="5581981"/>
                </a:moveTo>
                <a:cubicBezTo>
                  <a:pt x="2937819" y="5581981"/>
                  <a:pt x="2973910" y="5588741"/>
                  <a:pt x="3006900" y="5602259"/>
                </a:cubicBezTo>
                <a:cubicBezTo>
                  <a:pt x="3039890" y="5615778"/>
                  <a:pt x="3066679" y="5635745"/>
                  <a:pt x="3087267" y="5662162"/>
                </a:cubicBezTo>
                <a:cubicBezTo>
                  <a:pt x="3107855" y="5688579"/>
                  <a:pt x="3119141" y="5721136"/>
                  <a:pt x="3121126" y="5759831"/>
                </a:cubicBezTo>
                <a:lnTo>
                  <a:pt x="3013969" y="5759831"/>
                </a:lnTo>
                <a:cubicBezTo>
                  <a:pt x="3011241" y="5739491"/>
                  <a:pt x="3004605" y="5722624"/>
                  <a:pt x="2994064" y="5709229"/>
                </a:cubicBezTo>
                <a:cubicBezTo>
                  <a:pt x="2983521" y="5695835"/>
                  <a:pt x="2970065" y="5685789"/>
                  <a:pt x="2953694" y="5679092"/>
                </a:cubicBezTo>
                <a:cubicBezTo>
                  <a:pt x="2937323" y="5672394"/>
                  <a:pt x="2918967" y="5669046"/>
                  <a:pt x="2898627" y="5669046"/>
                </a:cubicBezTo>
                <a:cubicBezTo>
                  <a:pt x="2865885" y="5669046"/>
                  <a:pt x="2839530" y="5676983"/>
                  <a:pt x="2819563" y="5692858"/>
                </a:cubicBezTo>
                <a:cubicBezTo>
                  <a:pt x="2799595" y="5708733"/>
                  <a:pt x="2785084" y="5729507"/>
                  <a:pt x="2776030" y="5755180"/>
                </a:cubicBezTo>
                <a:cubicBezTo>
                  <a:pt x="2766977" y="5780853"/>
                  <a:pt x="2762450" y="5808944"/>
                  <a:pt x="2762450" y="5839454"/>
                </a:cubicBezTo>
                <a:cubicBezTo>
                  <a:pt x="2762450" y="5869716"/>
                  <a:pt x="2766977" y="5897745"/>
                  <a:pt x="2776030" y="5923542"/>
                </a:cubicBezTo>
                <a:cubicBezTo>
                  <a:pt x="2785084" y="5949339"/>
                  <a:pt x="2799595" y="5970051"/>
                  <a:pt x="2819563" y="5985678"/>
                </a:cubicBezTo>
                <a:cubicBezTo>
                  <a:pt x="2839530" y="6001305"/>
                  <a:pt x="2865885" y="6009118"/>
                  <a:pt x="2898627" y="6009118"/>
                </a:cubicBezTo>
                <a:cubicBezTo>
                  <a:pt x="2933106" y="6009118"/>
                  <a:pt x="2960329" y="6000250"/>
                  <a:pt x="2980297" y="5982515"/>
                </a:cubicBezTo>
                <a:cubicBezTo>
                  <a:pt x="3000265" y="5964780"/>
                  <a:pt x="3011737" y="5939541"/>
                  <a:pt x="3014713" y="5906799"/>
                </a:cubicBezTo>
                <a:lnTo>
                  <a:pt x="3121869" y="5906799"/>
                </a:lnTo>
                <a:cubicBezTo>
                  <a:pt x="3118893" y="5947726"/>
                  <a:pt x="3108103" y="5982267"/>
                  <a:pt x="3089500" y="6010420"/>
                </a:cubicBezTo>
                <a:cubicBezTo>
                  <a:pt x="3070896" y="6038573"/>
                  <a:pt x="3045471" y="6059906"/>
                  <a:pt x="3013225" y="6074416"/>
                </a:cubicBezTo>
                <a:cubicBezTo>
                  <a:pt x="2980979" y="6088927"/>
                  <a:pt x="2942780" y="6096182"/>
                  <a:pt x="2898627" y="6096182"/>
                </a:cubicBezTo>
                <a:cubicBezTo>
                  <a:pt x="2848026" y="6096182"/>
                  <a:pt x="2804494" y="6085578"/>
                  <a:pt x="2768031" y="6064370"/>
                </a:cubicBezTo>
                <a:cubicBezTo>
                  <a:pt x="2731568" y="6043162"/>
                  <a:pt x="2703539" y="6013397"/>
                  <a:pt x="2683943" y="5975074"/>
                </a:cubicBezTo>
                <a:cubicBezTo>
                  <a:pt x="2664347" y="5936750"/>
                  <a:pt x="2654549" y="5891544"/>
                  <a:pt x="2654549" y="5839454"/>
                </a:cubicBezTo>
                <a:cubicBezTo>
                  <a:pt x="2654549" y="5787364"/>
                  <a:pt x="2664347" y="5742034"/>
                  <a:pt x="2683943" y="5703462"/>
                </a:cubicBezTo>
                <a:cubicBezTo>
                  <a:pt x="2703539" y="5664891"/>
                  <a:pt x="2731568" y="5635001"/>
                  <a:pt x="2768031" y="5613793"/>
                </a:cubicBezTo>
                <a:cubicBezTo>
                  <a:pt x="2804494" y="5592585"/>
                  <a:pt x="2848026" y="5581981"/>
                  <a:pt x="2898627" y="5581981"/>
                </a:cubicBezTo>
                <a:close/>
                <a:moveTo>
                  <a:pt x="2449018" y="4674279"/>
                </a:moveTo>
                <a:lnTo>
                  <a:pt x="2553570" y="4674279"/>
                </a:lnTo>
                <a:lnTo>
                  <a:pt x="2553570" y="5175085"/>
                </a:lnTo>
                <a:lnTo>
                  <a:pt x="2449018" y="5175085"/>
                </a:lnTo>
                <a:close/>
                <a:moveTo>
                  <a:pt x="1896568" y="4674279"/>
                </a:moveTo>
                <a:lnTo>
                  <a:pt x="1998887" y="4674279"/>
                </a:lnTo>
                <a:lnTo>
                  <a:pt x="2229199" y="5011746"/>
                </a:lnTo>
                <a:lnTo>
                  <a:pt x="2229199" y="4674279"/>
                </a:lnTo>
                <a:lnTo>
                  <a:pt x="2327797" y="4674279"/>
                </a:lnTo>
                <a:lnTo>
                  <a:pt x="2327797" y="5175085"/>
                </a:lnTo>
                <a:lnTo>
                  <a:pt x="2225106" y="5175085"/>
                </a:lnTo>
                <a:lnTo>
                  <a:pt x="1994422" y="4835385"/>
                </a:lnTo>
                <a:lnTo>
                  <a:pt x="1994422" y="5175085"/>
                </a:lnTo>
                <a:lnTo>
                  <a:pt x="1896568" y="5175085"/>
                </a:lnTo>
                <a:close/>
                <a:moveTo>
                  <a:pt x="1344118" y="4674279"/>
                </a:moveTo>
                <a:lnTo>
                  <a:pt x="1446437" y="4674279"/>
                </a:lnTo>
                <a:lnTo>
                  <a:pt x="1676749" y="5011746"/>
                </a:lnTo>
                <a:lnTo>
                  <a:pt x="1676749" y="4674279"/>
                </a:lnTo>
                <a:lnTo>
                  <a:pt x="1775347" y="4674279"/>
                </a:lnTo>
                <a:lnTo>
                  <a:pt x="1775347" y="5175085"/>
                </a:lnTo>
                <a:lnTo>
                  <a:pt x="1672656" y="5175085"/>
                </a:lnTo>
                <a:lnTo>
                  <a:pt x="1441972" y="4835385"/>
                </a:lnTo>
                <a:lnTo>
                  <a:pt x="1441972" y="5175085"/>
                </a:lnTo>
                <a:lnTo>
                  <a:pt x="1344118" y="5175085"/>
                </a:lnTo>
                <a:close/>
                <a:moveTo>
                  <a:pt x="905968" y="4674279"/>
                </a:moveTo>
                <a:lnTo>
                  <a:pt x="1241947" y="4674279"/>
                </a:lnTo>
                <a:lnTo>
                  <a:pt x="1241947" y="4760971"/>
                </a:lnTo>
                <a:lnTo>
                  <a:pt x="1010519" y="4760971"/>
                </a:lnTo>
                <a:lnTo>
                  <a:pt x="1010519" y="4877429"/>
                </a:lnTo>
                <a:lnTo>
                  <a:pt x="1220367" y="4877429"/>
                </a:lnTo>
                <a:lnTo>
                  <a:pt x="1220367" y="4961145"/>
                </a:lnTo>
                <a:lnTo>
                  <a:pt x="1010519" y="4961145"/>
                </a:lnTo>
                <a:lnTo>
                  <a:pt x="1010519" y="5088393"/>
                </a:lnTo>
                <a:lnTo>
                  <a:pt x="1241947" y="5088393"/>
                </a:lnTo>
                <a:lnTo>
                  <a:pt x="1241947" y="5175085"/>
                </a:lnTo>
                <a:lnTo>
                  <a:pt x="905968" y="5175085"/>
                </a:lnTo>
                <a:close/>
                <a:moveTo>
                  <a:pt x="471762" y="4674279"/>
                </a:moveTo>
                <a:lnTo>
                  <a:pt x="843460" y="4674279"/>
                </a:lnTo>
                <a:lnTo>
                  <a:pt x="843460" y="4761343"/>
                </a:lnTo>
                <a:lnTo>
                  <a:pt x="710259" y="4761343"/>
                </a:lnTo>
                <a:lnTo>
                  <a:pt x="710259" y="5175085"/>
                </a:lnTo>
                <a:lnTo>
                  <a:pt x="605707" y="5175085"/>
                </a:lnTo>
                <a:lnTo>
                  <a:pt x="605707" y="4761343"/>
                </a:lnTo>
                <a:lnTo>
                  <a:pt x="471762" y="4761343"/>
                </a:lnTo>
                <a:close/>
                <a:moveTo>
                  <a:pt x="2842073" y="4667953"/>
                </a:moveTo>
                <a:cubicBezTo>
                  <a:pt x="2876303" y="4667953"/>
                  <a:pt x="2907743" y="4673162"/>
                  <a:pt x="2936393" y="4683580"/>
                </a:cubicBezTo>
                <a:cubicBezTo>
                  <a:pt x="2965042" y="4693998"/>
                  <a:pt x="2987924" y="4709873"/>
                  <a:pt x="3005040" y="4731205"/>
                </a:cubicBezTo>
                <a:cubicBezTo>
                  <a:pt x="3022155" y="4752537"/>
                  <a:pt x="3030712" y="4779699"/>
                  <a:pt x="3030712" y="4812689"/>
                </a:cubicBezTo>
                <a:lnTo>
                  <a:pt x="2923556" y="4812689"/>
                </a:lnTo>
                <a:cubicBezTo>
                  <a:pt x="2923804" y="4791357"/>
                  <a:pt x="2915867" y="4775420"/>
                  <a:pt x="2899744" y="4764878"/>
                </a:cubicBezTo>
                <a:cubicBezTo>
                  <a:pt x="2883621" y="4754336"/>
                  <a:pt x="2864273" y="4749065"/>
                  <a:pt x="2841701" y="4749065"/>
                </a:cubicBezTo>
                <a:cubicBezTo>
                  <a:pt x="2819377" y="4749065"/>
                  <a:pt x="2800897" y="4753219"/>
                  <a:pt x="2786262" y="4761529"/>
                </a:cubicBezTo>
                <a:cubicBezTo>
                  <a:pt x="2771627" y="4769839"/>
                  <a:pt x="2764310" y="4782675"/>
                  <a:pt x="2764310" y="4800038"/>
                </a:cubicBezTo>
                <a:cubicBezTo>
                  <a:pt x="2764310" y="4809960"/>
                  <a:pt x="2767411" y="4818704"/>
                  <a:pt x="2773612" y="4826269"/>
                </a:cubicBezTo>
                <a:cubicBezTo>
                  <a:pt x="2779813" y="4833835"/>
                  <a:pt x="2791285" y="4841214"/>
                  <a:pt x="2808028" y="4848407"/>
                </a:cubicBezTo>
                <a:cubicBezTo>
                  <a:pt x="2824772" y="4855601"/>
                  <a:pt x="2849018" y="4863786"/>
                  <a:pt x="2880768" y="4872964"/>
                </a:cubicBezTo>
                <a:cubicBezTo>
                  <a:pt x="2918719" y="4884126"/>
                  <a:pt x="2949849" y="4895846"/>
                  <a:pt x="2974158" y="4908125"/>
                </a:cubicBezTo>
                <a:cubicBezTo>
                  <a:pt x="2998466" y="4920403"/>
                  <a:pt x="3016512" y="4936278"/>
                  <a:pt x="3028294" y="4955750"/>
                </a:cubicBezTo>
                <a:cubicBezTo>
                  <a:pt x="3040076" y="4975221"/>
                  <a:pt x="3045967" y="5000832"/>
                  <a:pt x="3045967" y="5032582"/>
                </a:cubicBezTo>
                <a:cubicBezTo>
                  <a:pt x="3045967" y="5068053"/>
                  <a:pt x="3037286" y="5096702"/>
                  <a:pt x="3019922" y="5118531"/>
                </a:cubicBezTo>
                <a:cubicBezTo>
                  <a:pt x="3002559" y="5140359"/>
                  <a:pt x="2978933" y="5156358"/>
                  <a:pt x="2949043" y="5166528"/>
                </a:cubicBezTo>
                <a:cubicBezTo>
                  <a:pt x="2919153" y="5176698"/>
                  <a:pt x="2885357" y="5181783"/>
                  <a:pt x="2847654" y="5181783"/>
                </a:cubicBezTo>
                <a:cubicBezTo>
                  <a:pt x="2809702" y="5181783"/>
                  <a:pt x="2775534" y="5176387"/>
                  <a:pt x="2745148" y="5165597"/>
                </a:cubicBezTo>
                <a:cubicBezTo>
                  <a:pt x="2714763" y="5154807"/>
                  <a:pt x="2690640" y="5137630"/>
                  <a:pt x="2672781" y="5114066"/>
                </a:cubicBezTo>
                <a:cubicBezTo>
                  <a:pt x="2654921" y="5090501"/>
                  <a:pt x="2645992" y="5059743"/>
                  <a:pt x="2645992" y="5021792"/>
                </a:cubicBezTo>
                <a:lnTo>
                  <a:pt x="2753148" y="5021792"/>
                </a:lnTo>
                <a:cubicBezTo>
                  <a:pt x="2753644" y="5041140"/>
                  <a:pt x="2758109" y="5056333"/>
                  <a:pt x="2766543" y="5067371"/>
                </a:cubicBezTo>
                <a:cubicBezTo>
                  <a:pt x="2774976" y="5078409"/>
                  <a:pt x="2786324" y="5086284"/>
                  <a:pt x="2800587" y="5090997"/>
                </a:cubicBezTo>
                <a:cubicBezTo>
                  <a:pt x="2814850" y="5095710"/>
                  <a:pt x="2831158" y="5098067"/>
                  <a:pt x="2849514" y="5098067"/>
                </a:cubicBezTo>
                <a:cubicBezTo>
                  <a:pt x="2867126" y="5098067"/>
                  <a:pt x="2882628" y="5095958"/>
                  <a:pt x="2896023" y="5091741"/>
                </a:cubicBezTo>
                <a:cubicBezTo>
                  <a:pt x="2909418" y="5087525"/>
                  <a:pt x="2919897" y="5081013"/>
                  <a:pt x="2927463" y="5072208"/>
                </a:cubicBezTo>
                <a:cubicBezTo>
                  <a:pt x="2935028" y="5063402"/>
                  <a:pt x="2938811" y="5052178"/>
                  <a:pt x="2938811" y="5038535"/>
                </a:cubicBezTo>
                <a:cubicBezTo>
                  <a:pt x="2938811" y="5025389"/>
                  <a:pt x="2935586" y="5014537"/>
                  <a:pt x="2929137" y="5005979"/>
                </a:cubicBezTo>
                <a:cubicBezTo>
                  <a:pt x="2922688" y="4997422"/>
                  <a:pt x="2911278" y="4989608"/>
                  <a:pt x="2894907" y="4982539"/>
                </a:cubicBezTo>
                <a:cubicBezTo>
                  <a:pt x="2878535" y="4975469"/>
                  <a:pt x="2855591" y="4967842"/>
                  <a:pt x="2826074" y="4959657"/>
                </a:cubicBezTo>
                <a:cubicBezTo>
                  <a:pt x="2791595" y="4949735"/>
                  <a:pt x="2761768" y="4938821"/>
                  <a:pt x="2736591" y="4926914"/>
                </a:cubicBezTo>
                <a:cubicBezTo>
                  <a:pt x="2711414" y="4915008"/>
                  <a:pt x="2691942" y="4899629"/>
                  <a:pt x="2678176" y="4880778"/>
                </a:cubicBezTo>
                <a:cubicBezTo>
                  <a:pt x="2664409" y="4861926"/>
                  <a:pt x="2657526" y="4837369"/>
                  <a:pt x="2657526" y="4807108"/>
                </a:cubicBezTo>
                <a:cubicBezTo>
                  <a:pt x="2657526" y="4774614"/>
                  <a:pt x="2665401" y="4748135"/>
                  <a:pt x="2681152" y="4727671"/>
                </a:cubicBezTo>
                <a:cubicBezTo>
                  <a:pt x="2696903" y="4707207"/>
                  <a:pt x="2718669" y="4692138"/>
                  <a:pt x="2746451" y="4682464"/>
                </a:cubicBezTo>
                <a:cubicBezTo>
                  <a:pt x="2774232" y="4672790"/>
                  <a:pt x="2806106" y="4667953"/>
                  <a:pt x="2842073" y="4667953"/>
                </a:cubicBezTo>
                <a:close/>
                <a:moveTo>
                  <a:pt x="1529632" y="2585122"/>
                </a:moveTo>
                <a:lnTo>
                  <a:pt x="1594744" y="2785668"/>
                </a:lnTo>
                <a:lnTo>
                  <a:pt x="1464520" y="2785668"/>
                </a:lnTo>
                <a:close/>
                <a:moveTo>
                  <a:pt x="1934445" y="2568379"/>
                </a:moveTo>
                <a:lnTo>
                  <a:pt x="2024486" y="2568379"/>
                </a:lnTo>
                <a:cubicBezTo>
                  <a:pt x="2046562" y="2568379"/>
                  <a:pt x="2064297" y="2573960"/>
                  <a:pt x="2077692" y="2585122"/>
                </a:cubicBezTo>
                <a:cubicBezTo>
                  <a:pt x="2091086" y="2596284"/>
                  <a:pt x="2097783" y="2612903"/>
                  <a:pt x="2097783" y="2634980"/>
                </a:cubicBezTo>
                <a:cubicBezTo>
                  <a:pt x="2097783" y="2650111"/>
                  <a:pt x="2094559" y="2662885"/>
                  <a:pt x="2088109" y="2673303"/>
                </a:cubicBezTo>
                <a:cubicBezTo>
                  <a:pt x="2081660" y="2683721"/>
                  <a:pt x="2072545" y="2691534"/>
                  <a:pt x="2060763" y="2696743"/>
                </a:cubicBezTo>
                <a:cubicBezTo>
                  <a:pt x="2048980" y="2701952"/>
                  <a:pt x="2034904" y="2704557"/>
                  <a:pt x="2018532" y="2704557"/>
                </a:cubicBezTo>
                <a:lnTo>
                  <a:pt x="1934445" y="2704557"/>
                </a:lnTo>
                <a:close/>
                <a:moveTo>
                  <a:pt x="3096718" y="2481687"/>
                </a:moveTo>
                <a:lnTo>
                  <a:pt x="3096718" y="2982493"/>
                </a:lnTo>
                <a:lnTo>
                  <a:pt x="3194572" y="2982493"/>
                </a:lnTo>
                <a:lnTo>
                  <a:pt x="3194572" y="2642793"/>
                </a:lnTo>
                <a:lnTo>
                  <a:pt x="3425256" y="2982493"/>
                </a:lnTo>
                <a:lnTo>
                  <a:pt x="3527947" y="2982493"/>
                </a:lnTo>
                <a:lnTo>
                  <a:pt x="3527947" y="2481687"/>
                </a:lnTo>
                <a:lnTo>
                  <a:pt x="3429349" y="2481687"/>
                </a:lnTo>
                <a:lnTo>
                  <a:pt x="3429349" y="2819154"/>
                </a:lnTo>
                <a:lnTo>
                  <a:pt x="3199037" y="2481687"/>
                </a:lnTo>
                <a:close/>
                <a:moveTo>
                  <a:pt x="2868118" y="2481687"/>
                </a:moveTo>
                <a:lnTo>
                  <a:pt x="2868118" y="2982493"/>
                </a:lnTo>
                <a:lnTo>
                  <a:pt x="2972670" y="2982493"/>
                </a:lnTo>
                <a:lnTo>
                  <a:pt x="2972670" y="2481687"/>
                </a:lnTo>
                <a:close/>
                <a:moveTo>
                  <a:pt x="2315668" y="2481687"/>
                </a:moveTo>
                <a:lnTo>
                  <a:pt x="2315668" y="2982493"/>
                </a:lnTo>
                <a:lnTo>
                  <a:pt x="2413523" y="2982493"/>
                </a:lnTo>
                <a:lnTo>
                  <a:pt x="2413523" y="2642793"/>
                </a:lnTo>
                <a:lnTo>
                  <a:pt x="2644206" y="2982493"/>
                </a:lnTo>
                <a:lnTo>
                  <a:pt x="2746897" y="2982493"/>
                </a:lnTo>
                <a:lnTo>
                  <a:pt x="2746897" y="2481687"/>
                </a:lnTo>
                <a:lnTo>
                  <a:pt x="2648299" y="2481687"/>
                </a:lnTo>
                <a:lnTo>
                  <a:pt x="2648299" y="2819154"/>
                </a:lnTo>
                <a:lnTo>
                  <a:pt x="2417987" y="2481687"/>
                </a:lnTo>
                <a:close/>
                <a:moveTo>
                  <a:pt x="1829893" y="2481687"/>
                </a:moveTo>
                <a:lnTo>
                  <a:pt x="1829893" y="2982493"/>
                </a:lnTo>
                <a:lnTo>
                  <a:pt x="1934445" y="2982493"/>
                </a:lnTo>
                <a:lnTo>
                  <a:pt x="1934445" y="2790877"/>
                </a:lnTo>
                <a:lnTo>
                  <a:pt x="2015928" y="2790877"/>
                </a:lnTo>
                <a:cubicBezTo>
                  <a:pt x="2035276" y="2790877"/>
                  <a:pt x="2050468" y="2794288"/>
                  <a:pt x="2061507" y="2801109"/>
                </a:cubicBezTo>
                <a:cubicBezTo>
                  <a:pt x="2072545" y="2807930"/>
                  <a:pt x="2081288" y="2818286"/>
                  <a:pt x="2087738" y="2832177"/>
                </a:cubicBezTo>
                <a:cubicBezTo>
                  <a:pt x="2094187" y="2846068"/>
                  <a:pt x="2099892" y="2863927"/>
                  <a:pt x="2104853" y="2885755"/>
                </a:cubicBezTo>
                <a:lnTo>
                  <a:pt x="2128293" y="2982493"/>
                </a:lnTo>
                <a:lnTo>
                  <a:pt x="2237682" y="2982493"/>
                </a:lnTo>
                <a:lnTo>
                  <a:pt x="2204567" y="2864919"/>
                </a:lnTo>
                <a:cubicBezTo>
                  <a:pt x="2198119" y="2841354"/>
                  <a:pt x="2190987" y="2821511"/>
                  <a:pt x="2183174" y="2805388"/>
                </a:cubicBezTo>
                <a:cubicBezTo>
                  <a:pt x="2175360" y="2789265"/>
                  <a:pt x="2165128" y="2776428"/>
                  <a:pt x="2152478" y="2766878"/>
                </a:cubicBezTo>
                <a:cubicBezTo>
                  <a:pt x="2139828" y="2757329"/>
                  <a:pt x="2122960" y="2750942"/>
                  <a:pt x="2101876" y="2747717"/>
                </a:cubicBezTo>
                <a:cubicBezTo>
                  <a:pt x="2136355" y="2738291"/>
                  <a:pt x="2162090" y="2722540"/>
                  <a:pt x="2179081" y="2700464"/>
                </a:cubicBezTo>
                <a:cubicBezTo>
                  <a:pt x="2196072" y="2678388"/>
                  <a:pt x="2204567" y="2651475"/>
                  <a:pt x="2204567" y="2619725"/>
                </a:cubicBezTo>
                <a:cubicBezTo>
                  <a:pt x="2204567" y="2586238"/>
                  <a:pt x="2197188" y="2559387"/>
                  <a:pt x="2182429" y="2539171"/>
                </a:cubicBezTo>
                <a:cubicBezTo>
                  <a:pt x="2167670" y="2518956"/>
                  <a:pt x="2147641" y="2504321"/>
                  <a:pt x="2122340" y="2495267"/>
                </a:cubicBezTo>
                <a:cubicBezTo>
                  <a:pt x="2097039" y="2486213"/>
                  <a:pt x="2068266" y="2481687"/>
                  <a:pt x="2036020" y="2481687"/>
                </a:cubicBezTo>
                <a:close/>
                <a:moveTo>
                  <a:pt x="1474938" y="2481687"/>
                </a:moveTo>
                <a:lnTo>
                  <a:pt x="1294856" y="2982493"/>
                </a:lnTo>
                <a:lnTo>
                  <a:pt x="1402756" y="2982493"/>
                </a:lnTo>
                <a:lnTo>
                  <a:pt x="1439591" y="2872360"/>
                </a:lnTo>
                <a:lnTo>
                  <a:pt x="1620417" y="2872360"/>
                </a:lnTo>
                <a:lnTo>
                  <a:pt x="1656136" y="2982493"/>
                </a:lnTo>
                <a:lnTo>
                  <a:pt x="1765153" y="2982493"/>
                </a:lnTo>
                <a:lnTo>
                  <a:pt x="1584699" y="2481687"/>
                </a:lnTo>
                <a:close/>
                <a:moveTo>
                  <a:pt x="915493" y="2481687"/>
                </a:moveTo>
                <a:lnTo>
                  <a:pt x="915493" y="2982493"/>
                </a:lnTo>
                <a:lnTo>
                  <a:pt x="1251472" y="2982493"/>
                </a:lnTo>
                <a:lnTo>
                  <a:pt x="1251472" y="2895801"/>
                </a:lnTo>
                <a:lnTo>
                  <a:pt x="1020045" y="2895801"/>
                </a:lnTo>
                <a:lnTo>
                  <a:pt x="1020045" y="2768553"/>
                </a:lnTo>
                <a:lnTo>
                  <a:pt x="1229892" y="2768553"/>
                </a:lnTo>
                <a:lnTo>
                  <a:pt x="1229892" y="2684837"/>
                </a:lnTo>
                <a:lnTo>
                  <a:pt x="1020045" y="2684837"/>
                </a:lnTo>
                <a:lnTo>
                  <a:pt x="1020045" y="2568379"/>
                </a:lnTo>
                <a:lnTo>
                  <a:pt x="1251472" y="2568379"/>
                </a:lnTo>
                <a:lnTo>
                  <a:pt x="1251472" y="2481687"/>
                </a:lnTo>
                <a:close/>
                <a:moveTo>
                  <a:pt x="524968" y="2481687"/>
                </a:moveTo>
                <a:lnTo>
                  <a:pt x="524968" y="2982493"/>
                </a:lnTo>
                <a:lnTo>
                  <a:pt x="840855" y="2982493"/>
                </a:lnTo>
                <a:lnTo>
                  <a:pt x="840855" y="2890592"/>
                </a:lnTo>
                <a:lnTo>
                  <a:pt x="629520" y="2890592"/>
                </a:lnTo>
                <a:lnTo>
                  <a:pt x="629520" y="2481687"/>
                </a:lnTo>
                <a:close/>
                <a:moveTo>
                  <a:pt x="3872410" y="2474989"/>
                </a:moveTo>
                <a:cubicBezTo>
                  <a:pt x="3821064" y="2474989"/>
                  <a:pt x="3777036" y="2485593"/>
                  <a:pt x="3740325" y="2506801"/>
                </a:cubicBezTo>
                <a:cubicBezTo>
                  <a:pt x="3703614" y="2528009"/>
                  <a:pt x="3675399" y="2557899"/>
                  <a:pt x="3655679" y="2596470"/>
                </a:cubicBezTo>
                <a:cubicBezTo>
                  <a:pt x="3635960" y="2635042"/>
                  <a:pt x="3626100" y="2680372"/>
                  <a:pt x="3626100" y="2732462"/>
                </a:cubicBezTo>
                <a:cubicBezTo>
                  <a:pt x="3626100" y="2784304"/>
                  <a:pt x="3635960" y="2829448"/>
                  <a:pt x="3655679" y="2867896"/>
                </a:cubicBezTo>
                <a:cubicBezTo>
                  <a:pt x="3675399" y="2906343"/>
                  <a:pt x="3703614" y="2936170"/>
                  <a:pt x="3740325" y="2957378"/>
                </a:cubicBezTo>
                <a:cubicBezTo>
                  <a:pt x="3777036" y="2978586"/>
                  <a:pt x="3821064" y="2989190"/>
                  <a:pt x="3872410" y="2989190"/>
                </a:cubicBezTo>
                <a:cubicBezTo>
                  <a:pt x="3921028" y="2989190"/>
                  <a:pt x="3962141" y="2979889"/>
                  <a:pt x="3995751" y="2961285"/>
                </a:cubicBezTo>
                <a:cubicBezTo>
                  <a:pt x="4029362" y="2942682"/>
                  <a:pt x="4054911" y="2916885"/>
                  <a:pt x="4072398" y="2883895"/>
                </a:cubicBezTo>
                <a:cubicBezTo>
                  <a:pt x="4089885" y="2850904"/>
                  <a:pt x="4098629" y="2812705"/>
                  <a:pt x="4098629" y="2769297"/>
                </a:cubicBezTo>
                <a:lnTo>
                  <a:pt x="4098629" y="2718323"/>
                </a:lnTo>
                <a:lnTo>
                  <a:pt x="3875015" y="2718323"/>
                </a:lnTo>
                <a:lnTo>
                  <a:pt x="3875015" y="2801667"/>
                </a:lnTo>
                <a:lnTo>
                  <a:pt x="3993705" y="2801667"/>
                </a:lnTo>
                <a:cubicBezTo>
                  <a:pt x="3992217" y="2821511"/>
                  <a:pt x="3986574" y="2838998"/>
                  <a:pt x="3976776" y="2854129"/>
                </a:cubicBezTo>
                <a:cubicBezTo>
                  <a:pt x="3966978" y="2869260"/>
                  <a:pt x="3953335" y="2881104"/>
                  <a:pt x="3935848" y="2889662"/>
                </a:cubicBezTo>
                <a:cubicBezTo>
                  <a:pt x="3918361" y="2898219"/>
                  <a:pt x="3897215" y="2902498"/>
                  <a:pt x="3872410" y="2902498"/>
                </a:cubicBezTo>
                <a:cubicBezTo>
                  <a:pt x="3838924" y="2902498"/>
                  <a:pt x="3812011" y="2894685"/>
                  <a:pt x="3791671" y="2879058"/>
                </a:cubicBezTo>
                <a:cubicBezTo>
                  <a:pt x="3771331" y="2863431"/>
                  <a:pt x="3756510" y="2842719"/>
                  <a:pt x="3747208" y="2816922"/>
                </a:cubicBezTo>
                <a:cubicBezTo>
                  <a:pt x="3737907" y="2791125"/>
                  <a:pt x="3733256" y="2762972"/>
                  <a:pt x="3733256" y="2732462"/>
                </a:cubicBezTo>
                <a:cubicBezTo>
                  <a:pt x="3733256" y="2701704"/>
                  <a:pt x="3737845" y="2673489"/>
                  <a:pt x="3747022" y="2647816"/>
                </a:cubicBezTo>
                <a:cubicBezTo>
                  <a:pt x="3756200" y="2622143"/>
                  <a:pt x="3770835" y="2601431"/>
                  <a:pt x="3790927" y="2585680"/>
                </a:cubicBezTo>
                <a:cubicBezTo>
                  <a:pt x="3811018" y="2569929"/>
                  <a:pt x="3837435" y="2562054"/>
                  <a:pt x="3870178" y="2562054"/>
                </a:cubicBezTo>
                <a:cubicBezTo>
                  <a:pt x="3892998" y="2562054"/>
                  <a:pt x="3912594" y="2565650"/>
                  <a:pt x="3928965" y="2572844"/>
                </a:cubicBezTo>
                <a:cubicBezTo>
                  <a:pt x="3945336" y="2580037"/>
                  <a:pt x="3958234" y="2589959"/>
                  <a:pt x="3967660" y="2602609"/>
                </a:cubicBezTo>
                <a:cubicBezTo>
                  <a:pt x="3977086" y="2615260"/>
                  <a:pt x="3982791" y="2629771"/>
                  <a:pt x="3984775" y="2646142"/>
                </a:cubicBezTo>
                <a:lnTo>
                  <a:pt x="4091559" y="2646142"/>
                </a:lnTo>
                <a:cubicBezTo>
                  <a:pt x="4088831" y="2616624"/>
                  <a:pt x="4080770" y="2591075"/>
                  <a:pt x="4067375" y="2569495"/>
                </a:cubicBezTo>
                <a:cubicBezTo>
                  <a:pt x="4053981" y="2547915"/>
                  <a:pt x="4036989" y="2530118"/>
                  <a:pt x="4016401" y="2516103"/>
                </a:cubicBezTo>
                <a:cubicBezTo>
                  <a:pt x="3995814" y="2502089"/>
                  <a:pt x="3973117" y="2491732"/>
                  <a:pt x="3948312" y="2485035"/>
                </a:cubicBezTo>
                <a:cubicBezTo>
                  <a:pt x="3923508" y="2478338"/>
                  <a:pt x="3898207" y="2474989"/>
                  <a:pt x="3872410" y="2474989"/>
                </a:cubicBezTo>
                <a:close/>
                <a:moveTo>
                  <a:pt x="1329607" y="1670722"/>
                </a:moveTo>
                <a:lnTo>
                  <a:pt x="1394720" y="1871268"/>
                </a:lnTo>
                <a:lnTo>
                  <a:pt x="1264495" y="1871268"/>
                </a:lnTo>
                <a:close/>
                <a:moveTo>
                  <a:pt x="3487243" y="1567287"/>
                </a:moveTo>
                <a:lnTo>
                  <a:pt x="3487243" y="2068093"/>
                </a:lnTo>
                <a:lnTo>
                  <a:pt x="3823222" y="2068093"/>
                </a:lnTo>
                <a:lnTo>
                  <a:pt x="3823222" y="1981401"/>
                </a:lnTo>
                <a:lnTo>
                  <a:pt x="3591795" y="1981401"/>
                </a:lnTo>
                <a:lnTo>
                  <a:pt x="3591795" y="1854153"/>
                </a:lnTo>
                <a:lnTo>
                  <a:pt x="3801642" y="1854153"/>
                </a:lnTo>
                <a:lnTo>
                  <a:pt x="3801642" y="1770437"/>
                </a:lnTo>
                <a:lnTo>
                  <a:pt x="3591795" y="1770437"/>
                </a:lnTo>
                <a:lnTo>
                  <a:pt x="3591795" y="1653979"/>
                </a:lnTo>
                <a:lnTo>
                  <a:pt x="3823222" y="1653979"/>
                </a:lnTo>
                <a:lnTo>
                  <a:pt x="3823222" y="1567287"/>
                </a:lnTo>
                <a:close/>
                <a:moveTo>
                  <a:pt x="2934793" y="1567287"/>
                </a:moveTo>
                <a:lnTo>
                  <a:pt x="2934793" y="2068093"/>
                </a:lnTo>
                <a:lnTo>
                  <a:pt x="3032647" y="2068093"/>
                </a:lnTo>
                <a:lnTo>
                  <a:pt x="3032647" y="1728393"/>
                </a:lnTo>
                <a:lnTo>
                  <a:pt x="3263331" y="2068093"/>
                </a:lnTo>
                <a:lnTo>
                  <a:pt x="3366022" y="2068093"/>
                </a:lnTo>
                <a:lnTo>
                  <a:pt x="3366022" y="1567287"/>
                </a:lnTo>
                <a:lnTo>
                  <a:pt x="3267424" y="1567287"/>
                </a:lnTo>
                <a:lnTo>
                  <a:pt x="3267424" y="1904754"/>
                </a:lnTo>
                <a:lnTo>
                  <a:pt x="3037112" y="1567287"/>
                </a:lnTo>
                <a:close/>
                <a:moveTo>
                  <a:pt x="2706193" y="1567287"/>
                </a:moveTo>
                <a:lnTo>
                  <a:pt x="2706193" y="2068093"/>
                </a:lnTo>
                <a:lnTo>
                  <a:pt x="2810745" y="2068093"/>
                </a:lnTo>
                <a:lnTo>
                  <a:pt x="2810745" y="1567287"/>
                </a:lnTo>
                <a:close/>
                <a:moveTo>
                  <a:pt x="2153743" y="1567287"/>
                </a:moveTo>
                <a:lnTo>
                  <a:pt x="2153743" y="2068093"/>
                </a:lnTo>
                <a:lnTo>
                  <a:pt x="2258294" y="2068093"/>
                </a:lnTo>
                <a:lnTo>
                  <a:pt x="2258294" y="1855269"/>
                </a:lnTo>
                <a:lnTo>
                  <a:pt x="2485257" y="1855269"/>
                </a:lnTo>
                <a:lnTo>
                  <a:pt x="2485257" y="2068093"/>
                </a:lnTo>
                <a:lnTo>
                  <a:pt x="2589809" y="2068093"/>
                </a:lnTo>
                <a:lnTo>
                  <a:pt x="2589809" y="1567287"/>
                </a:lnTo>
                <a:lnTo>
                  <a:pt x="2485257" y="1567287"/>
                </a:lnTo>
                <a:lnTo>
                  <a:pt x="2485257" y="1762996"/>
                </a:lnTo>
                <a:lnTo>
                  <a:pt x="2258294" y="1762996"/>
                </a:lnTo>
                <a:lnTo>
                  <a:pt x="2258294" y="1567287"/>
                </a:lnTo>
                <a:close/>
                <a:moveTo>
                  <a:pt x="1274913" y="1567287"/>
                </a:moveTo>
                <a:lnTo>
                  <a:pt x="1094831" y="2068093"/>
                </a:lnTo>
                <a:lnTo>
                  <a:pt x="1202731" y="2068093"/>
                </a:lnTo>
                <a:lnTo>
                  <a:pt x="1239566" y="1957960"/>
                </a:lnTo>
                <a:lnTo>
                  <a:pt x="1420392" y="1957960"/>
                </a:lnTo>
                <a:lnTo>
                  <a:pt x="1456111" y="2068093"/>
                </a:lnTo>
                <a:lnTo>
                  <a:pt x="1565128" y="2068093"/>
                </a:lnTo>
                <a:lnTo>
                  <a:pt x="1384673" y="1567287"/>
                </a:lnTo>
                <a:close/>
                <a:moveTo>
                  <a:pt x="524968" y="1567287"/>
                </a:moveTo>
                <a:lnTo>
                  <a:pt x="524968" y="2068093"/>
                </a:lnTo>
                <a:lnTo>
                  <a:pt x="625055" y="2068093"/>
                </a:lnTo>
                <a:lnTo>
                  <a:pt x="625055" y="1703354"/>
                </a:lnTo>
                <a:lnTo>
                  <a:pt x="745605" y="1908103"/>
                </a:lnTo>
                <a:lnTo>
                  <a:pt x="809974" y="1908103"/>
                </a:lnTo>
                <a:lnTo>
                  <a:pt x="927920" y="1702769"/>
                </a:lnTo>
                <a:lnTo>
                  <a:pt x="927920" y="2068093"/>
                </a:lnTo>
                <a:lnTo>
                  <a:pt x="1030983" y="2068093"/>
                </a:lnTo>
                <a:lnTo>
                  <a:pt x="1030983" y="1567287"/>
                </a:lnTo>
                <a:lnTo>
                  <a:pt x="915270" y="1567287"/>
                </a:lnTo>
                <a:lnTo>
                  <a:pt x="781175" y="1798729"/>
                </a:lnTo>
                <a:lnTo>
                  <a:pt x="645147" y="1567287"/>
                </a:lnTo>
                <a:close/>
                <a:moveTo>
                  <a:pt x="1831828" y="1560589"/>
                </a:moveTo>
                <a:cubicBezTo>
                  <a:pt x="1781226" y="1560589"/>
                  <a:pt x="1737694" y="1571193"/>
                  <a:pt x="1701231" y="1592401"/>
                </a:cubicBezTo>
                <a:cubicBezTo>
                  <a:pt x="1664768" y="1613609"/>
                  <a:pt x="1636739" y="1643499"/>
                  <a:pt x="1617143" y="1682070"/>
                </a:cubicBezTo>
                <a:cubicBezTo>
                  <a:pt x="1597548" y="1720642"/>
                  <a:pt x="1587750" y="1765972"/>
                  <a:pt x="1587750" y="1818062"/>
                </a:cubicBezTo>
                <a:cubicBezTo>
                  <a:pt x="1587750" y="1870152"/>
                  <a:pt x="1597548" y="1915358"/>
                  <a:pt x="1617143" y="1953682"/>
                </a:cubicBezTo>
                <a:cubicBezTo>
                  <a:pt x="1636739" y="1992005"/>
                  <a:pt x="1664768" y="2021771"/>
                  <a:pt x="1701231" y="2042978"/>
                </a:cubicBezTo>
                <a:cubicBezTo>
                  <a:pt x="1737694" y="2064186"/>
                  <a:pt x="1781226" y="2074791"/>
                  <a:pt x="1831828" y="2074791"/>
                </a:cubicBezTo>
                <a:cubicBezTo>
                  <a:pt x="1875980" y="2074791"/>
                  <a:pt x="1914179" y="2067535"/>
                  <a:pt x="1946425" y="2053025"/>
                </a:cubicBezTo>
                <a:cubicBezTo>
                  <a:pt x="1978671" y="2038514"/>
                  <a:pt x="2004096" y="2017182"/>
                  <a:pt x="2022700" y="1989028"/>
                </a:cubicBezTo>
                <a:cubicBezTo>
                  <a:pt x="2041303" y="1960875"/>
                  <a:pt x="2052093" y="1926334"/>
                  <a:pt x="2055070" y="1885407"/>
                </a:cubicBezTo>
                <a:lnTo>
                  <a:pt x="1947914" y="1885407"/>
                </a:lnTo>
                <a:cubicBezTo>
                  <a:pt x="1944937" y="1918149"/>
                  <a:pt x="1933465" y="1943388"/>
                  <a:pt x="1913497" y="1961123"/>
                </a:cubicBezTo>
                <a:cubicBezTo>
                  <a:pt x="1893529" y="1978858"/>
                  <a:pt x="1866306" y="1987726"/>
                  <a:pt x="1831828" y="1987726"/>
                </a:cubicBezTo>
                <a:cubicBezTo>
                  <a:pt x="1799085" y="1987726"/>
                  <a:pt x="1772730" y="1979913"/>
                  <a:pt x="1752763" y="1964286"/>
                </a:cubicBezTo>
                <a:cubicBezTo>
                  <a:pt x="1732795" y="1948659"/>
                  <a:pt x="1718284" y="1927947"/>
                  <a:pt x="1709230" y="1902150"/>
                </a:cubicBezTo>
                <a:cubicBezTo>
                  <a:pt x="1700177" y="1876353"/>
                  <a:pt x="1695650" y="1848324"/>
                  <a:pt x="1695650" y="1818062"/>
                </a:cubicBezTo>
                <a:cubicBezTo>
                  <a:pt x="1695650" y="1787552"/>
                  <a:pt x="1700177" y="1759461"/>
                  <a:pt x="1709230" y="1733788"/>
                </a:cubicBezTo>
                <a:cubicBezTo>
                  <a:pt x="1718284" y="1708115"/>
                  <a:pt x="1732795" y="1687341"/>
                  <a:pt x="1752763" y="1671466"/>
                </a:cubicBezTo>
                <a:cubicBezTo>
                  <a:pt x="1772730" y="1655591"/>
                  <a:pt x="1799085" y="1647654"/>
                  <a:pt x="1831828" y="1647654"/>
                </a:cubicBezTo>
                <a:cubicBezTo>
                  <a:pt x="1852168" y="1647654"/>
                  <a:pt x="1870523" y="1651002"/>
                  <a:pt x="1886894" y="1657700"/>
                </a:cubicBezTo>
                <a:cubicBezTo>
                  <a:pt x="1903265" y="1664397"/>
                  <a:pt x="1916722" y="1674443"/>
                  <a:pt x="1927264" y="1687837"/>
                </a:cubicBezTo>
                <a:cubicBezTo>
                  <a:pt x="1937806" y="1701232"/>
                  <a:pt x="1944441" y="1718099"/>
                  <a:pt x="1947169" y="1738439"/>
                </a:cubicBezTo>
                <a:lnTo>
                  <a:pt x="2054326" y="1738439"/>
                </a:lnTo>
                <a:cubicBezTo>
                  <a:pt x="2052341" y="1699744"/>
                  <a:pt x="2041055" y="1667188"/>
                  <a:pt x="2020467" y="1640771"/>
                </a:cubicBezTo>
                <a:cubicBezTo>
                  <a:pt x="1999879" y="1614354"/>
                  <a:pt x="1973090" y="1594386"/>
                  <a:pt x="1940100" y="1580867"/>
                </a:cubicBezTo>
                <a:cubicBezTo>
                  <a:pt x="1907110" y="1567349"/>
                  <a:pt x="1871019" y="1560589"/>
                  <a:pt x="1831828" y="1560589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4228103"/>
                </a:lnTo>
                <a:lnTo>
                  <a:pt x="0" y="4228103"/>
                </a:lnTo>
                <a:close/>
              </a:path>
            </a:pathLst>
          </a:cu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85954FEC-822B-5072-59A9-A9DDDD410745}"/>
              </a:ext>
            </a:extLst>
          </p:cNvPr>
          <p:cNvSpPr txBox="1"/>
          <p:nvPr/>
        </p:nvSpPr>
        <p:spPr>
          <a:xfrm>
            <a:off x="7846142" y="5265184"/>
            <a:ext cx="40410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Alessandro Brandino 899652</a:t>
            </a:r>
          </a:p>
          <a:p>
            <a:r>
              <a:rPr lang="it-IT" sz="2400" dirty="0"/>
              <a:t>Davide Baiardi 894430</a:t>
            </a:r>
          </a:p>
        </p:txBody>
      </p:sp>
      <p:pic>
        <p:nvPicPr>
          <p:cNvPr id="3" name="Immagine 2" descr="Immagine che contiene palla, palla da tennis, attrezzature sportive, tennis&#10;&#10;Il contenuto generato dall'IA potrebbe non essere corretto.">
            <a:extLst>
              <a:ext uri="{FF2B5EF4-FFF2-40B4-BE49-F238E27FC236}">
                <a16:creationId xmlns:a16="http://schemas.microsoft.com/office/drawing/2014/main" id="{C64230AA-572B-AA91-C30F-06DBAC2198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0102" y="-298791"/>
            <a:ext cx="2121220" cy="212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20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F3C4F-F342-EFF7-9FA7-E8DAC7DA2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8DF93094-C076-6CF2-3CAD-8E78DED9C9BB}"/>
              </a:ext>
            </a:extLst>
          </p:cNvPr>
          <p:cNvSpPr txBox="1"/>
          <p:nvPr/>
        </p:nvSpPr>
        <p:spPr>
          <a:xfrm>
            <a:off x="4783770" y="137234"/>
            <a:ext cx="51770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/>
              <a:t>Dominio e Obiettivi</a:t>
            </a:r>
          </a:p>
        </p:txBody>
      </p:sp>
      <p:pic>
        <p:nvPicPr>
          <p:cNvPr id="4" name="Immagine 3" descr="Immagine che contiene sport, gioco atletico, persona, tribunale&#10;&#10;Il contenuto generato dall'IA potrebbe non essere corretto.">
            <a:extLst>
              <a:ext uri="{FF2B5EF4-FFF2-40B4-BE49-F238E27FC236}">
                <a16:creationId xmlns:a16="http://schemas.microsoft.com/office/drawing/2014/main" id="{63CF45E9-2573-47E9-DCAD-0B2462D0F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BD5C45D8-C68D-3BA7-D99A-380CBD48B22E}"/>
              </a:ext>
            </a:extLst>
          </p:cNvPr>
          <p:cNvSpPr txBox="1"/>
          <p:nvPr/>
        </p:nvSpPr>
        <p:spPr>
          <a:xfrm>
            <a:off x="4783770" y="845120"/>
            <a:ext cx="454175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Il Tennis è uno sport unico nella quale convivono dati deterministici e </a:t>
            </a:r>
            <a:r>
              <a:rPr lang="it-IT" dirty="0" err="1"/>
              <a:t>stocasticità</a:t>
            </a:r>
            <a:r>
              <a:rPr lang="it-IT" dirty="0"/>
              <a:t>, in cui una partita può essere scontata ma allo stesso tempo imprevedibile</a:t>
            </a:r>
          </a:p>
          <a:p>
            <a:endParaRPr lang="it-IT" dirty="0"/>
          </a:p>
          <a:p>
            <a:r>
              <a:rPr lang="it-IT" dirty="0"/>
              <a:t>L’obiettivo di questo progetto è costruire un classificatore binario per predire il vincitore di un match ATP superando la semplice logica del Ranking ATP ed usando metriche più avanzate </a:t>
            </a:r>
          </a:p>
        </p:txBody>
      </p:sp>
      <p:graphicFrame>
        <p:nvGraphicFramePr>
          <p:cNvPr id="15" name="Diagramma 14">
            <a:extLst>
              <a:ext uri="{FF2B5EF4-FFF2-40B4-BE49-F238E27FC236}">
                <a16:creationId xmlns:a16="http://schemas.microsoft.com/office/drawing/2014/main" id="{AC2DF499-5EEE-EB6D-46DF-1D310D9AD6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9891786"/>
              </p:ext>
            </p:extLst>
          </p:nvPr>
        </p:nvGraphicFramePr>
        <p:xfrm>
          <a:off x="5053781" y="3879875"/>
          <a:ext cx="6390967" cy="23931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Immagine 5" descr="Immagine che contiene palla, palla da tennis, attrezzature sportive, tennis&#10;&#10;Il contenuto generato dall'IA potrebbe non essere corretto.">
            <a:extLst>
              <a:ext uri="{FF2B5EF4-FFF2-40B4-BE49-F238E27FC236}">
                <a16:creationId xmlns:a16="http://schemas.microsoft.com/office/drawing/2014/main" id="{2F3DAC82-BBB7-306A-3109-E7159D11F6F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290611">
            <a:off x="10545089" y="636813"/>
            <a:ext cx="2121220" cy="212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3423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A4F1D6C5-99C7-3CE2-AA14-DF7C77B5A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1152144" y="1152144"/>
            <a:ext cx="6858000" cy="4553712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5AC7475F-E209-58A0-CCB9-B01280EE3939}"/>
              </a:ext>
            </a:extLst>
          </p:cNvPr>
          <p:cNvSpPr txBox="1"/>
          <p:nvPr/>
        </p:nvSpPr>
        <p:spPr>
          <a:xfrm>
            <a:off x="4857135" y="137652"/>
            <a:ext cx="53094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/>
              <a:t>Feature Engineering</a:t>
            </a:r>
            <a:endParaRPr lang="it-IT" sz="4000" b="1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5DA2BA2-5E6C-2C2D-7CB1-23B01BE51BC7}"/>
              </a:ext>
            </a:extLst>
          </p:cNvPr>
          <p:cNvSpPr txBox="1"/>
          <p:nvPr/>
        </p:nvSpPr>
        <p:spPr>
          <a:xfrm>
            <a:off x="5004619" y="993058"/>
            <a:ext cx="489646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Poiché la maggior parte dei dati trovati non era utilizzabile, si è optato sulla costruzione di features significative basate sull’assunzione che un match si decide sulla </a:t>
            </a:r>
            <a:r>
              <a:rPr lang="it-IT" i="1">
                <a:solidFill>
                  <a:srgbClr val="FF0000"/>
                </a:solidFill>
              </a:rPr>
              <a:t>differenza</a:t>
            </a:r>
            <a:r>
              <a:rPr lang="it-IT"/>
              <a:t> tra i giocatori. </a:t>
            </a:r>
          </a:p>
          <a:p>
            <a:r>
              <a:rPr lang="it-IT" b="1"/>
              <a:t>Le Feature principali utilizzate:</a:t>
            </a:r>
            <a:endParaRPr lang="it-IT"/>
          </a:p>
          <a:p>
            <a:r>
              <a:rPr lang="it-IT"/>
              <a:t>-</a:t>
            </a:r>
            <a:r>
              <a:rPr lang="it-IT" b="1"/>
              <a:t> ELO Rating:</a:t>
            </a:r>
            <a:r>
              <a:rPr lang="it-IT"/>
              <a:t> Calcolato dinamicamente (Generale, Hard, Clay, Grass). Molto più reattivo poiché si basa sulla difficoltà delle partite affrontate.</a:t>
            </a:r>
          </a:p>
          <a:p>
            <a:pPr marL="285750" indent="-285750">
              <a:buFontTx/>
              <a:buChar char="-"/>
            </a:pPr>
            <a:r>
              <a:rPr lang="it-IT" b="1"/>
              <a:t>Momentum:</a:t>
            </a:r>
            <a:r>
              <a:rPr lang="it-IT"/>
              <a:t> Vittorie nelle ultime 5,25,50,100 partite.</a:t>
            </a:r>
          </a:p>
          <a:p>
            <a:pPr marL="285750" indent="-285750">
              <a:buFontTx/>
              <a:buChar char="-"/>
            </a:pPr>
            <a:r>
              <a:rPr lang="it-IT" b="1"/>
              <a:t>Head-to Head: </a:t>
            </a:r>
            <a:r>
              <a:rPr lang="it-IT"/>
              <a:t>numero di partite vinte da un giocatore contro un altro giocatore</a:t>
            </a:r>
          </a:p>
          <a:p>
            <a:pPr marL="285750" indent="-285750">
              <a:buFontTx/>
              <a:buChar char="-"/>
            </a:pPr>
            <a:r>
              <a:rPr lang="it-IT" b="1"/>
              <a:t>Esperienza: </a:t>
            </a:r>
            <a:r>
              <a:rPr lang="it-IT"/>
              <a:t>numero di partite giocate</a:t>
            </a:r>
          </a:p>
          <a:p>
            <a:pPr marL="285750" indent="-285750">
              <a:buFontTx/>
              <a:buChar char="-"/>
            </a:pPr>
            <a:r>
              <a:rPr lang="it-IT" b="1"/>
              <a:t>Fisicità: </a:t>
            </a:r>
            <a:r>
              <a:rPr lang="it-IT"/>
              <a:t>Età, Altezza, Mano Dominante.</a:t>
            </a:r>
          </a:p>
          <a:p>
            <a:pPr marL="285750" indent="-285750">
              <a:buFontTx/>
              <a:buChar char="-"/>
            </a:pPr>
            <a:endParaRPr lang="it-IT"/>
          </a:p>
          <a:p>
            <a:endParaRPr lang="it-IT" dirty="0"/>
          </a:p>
        </p:txBody>
      </p:sp>
      <p:pic>
        <p:nvPicPr>
          <p:cNvPr id="2" name="Immagine 1" descr="Immagine che contiene palla, palla da tennis, attrezzature sportive, tennis&#10;&#10;Il contenuto generato dall'IA potrebbe non essere corretto.">
            <a:extLst>
              <a:ext uri="{FF2B5EF4-FFF2-40B4-BE49-F238E27FC236}">
                <a16:creationId xmlns:a16="http://schemas.microsoft.com/office/drawing/2014/main" id="{1A0939D1-2EEF-844C-60B5-9B06A8E9B5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635485">
            <a:off x="10722070" y="1610206"/>
            <a:ext cx="2121220" cy="212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3649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E2695-944D-5CDD-F2FA-DCA757345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>
            <a:extLst>
              <a:ext uri="{FF2B5EF4-FFF2-40B4-BE49-F238E27FC236}">
                <a16:creationId xmlns:a16="http://schemas.microsoft.com/office/drawing/2014/main" id="{23A3B75B-82A4-4362-0B9A-823482354103}"/>
              </a:ext>
            </a:extLst>
          </p:cNvPr>
          <p:cNvSpPr txBox="1"/>
          <p:nvPr/>
        </p:nvSpPr>
        <p:spPr>
          <a:xfrm>
            <a:off x="4857135" y="137652"/>
            <a:ext cx="63221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200" b="1" dirty="0"/>
              <a:t>Analisi Esplorativa (EDA)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C82A928-1F3A-3970-1E82-6CE04D3ED513}"/>
              </a:ext>
            </a:extLst>
          </p:cNvPr>
          <p:cNvSpPr txBox="1"/>
          <p:nvPr/>
        </p:nvSpPr>
        <p:spPr>
          <a:xfrm>
            <a:off x="5004619" y="993058"/>
            <a:ext cx="48964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endParaRPr lang="it-IT" dirty="0"/>
          </a:p>
          <a:p>
            <a:endParaRPr lang="it-IT" dirty="0"/>
          </a:p>
        </p:txBody>
      </p:sp>
      <p:pic>
        <p:nvPicPr>
          <p:cNvPr id="3" name="Immagine 2" descr="Immagine che contiene testo, schermata, quadrato, Policromia&#10;&#10;Il contenuto generato dall'IA potrebbe non essere corretto.">
            <a:extLst>
              <a:ext uri="{FF2B5EF4-FFF2-40B4-BE49-F238E27FC236}">
                <a16:creationId xmlns:a16="http://schemas.microsoft.com/office/drawing/2014/main" id="{3CF6B0E3-A974-6CA5-A35A-53C4C3CAB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47" y="0"/>
            <a:ext cx="4356138" cy="3982065"/>
          </a:xfrm>
          <a:prstGeom prst="rect">
            <a:avLst/>
          </a:prstGeom>
        </p:spPr>
      </p:pic>
      <p:pic>
        <p:nvPicPr>
          <p:cNvPr id="9" name="Immagine 8" descr="Immagine che contiene testo, Diagramma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7506B40A-EB07-803F-2F3F-9B8F212729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823"/>
          <a:stretch>
            <a:fillRect/>
          </a:stretch>
        </p:blipFill>
        <p:spPr>
          <a:xfrm>
            <a:off x="668594" y="4146577"/>
            <a:ext cx="2989007" cy="2585840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EF63717-AADB-1CA2-B2AC-DF19135EFAEF}"/>
              </a:ext>
            </a:extLst>
          </p:cNvPr>
          <p:cNvSpPr txBox="1"/>
          <p:nvPr/>
        </p:nvSpPr>
        <p:spPr>
          <a:xfrm>
            <a:off x="4857135" y="993058"/>
            <a:ext cx="604380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Forte correlazione tra ELO e Ranking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Sovrapposizione delle classi (vittoria/sconfitta) al centro: dimostra che i match equilibrati sono difficili da predire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La differenza di età non è così indicativa per la vittoria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Il tennis ha una componente di incertezza (</a:t>
            </a:r>
            <a:r>
              <a:rPr lang="it-IT" dirty="0" err="1"/>
              <a:t>upset</a:t>
            </a:r>
            <a:r>
              <a:rPr lang="it-IT" dirty="0"/>
              <a:t>) maggiore rispetto agli scacchi. Una differenza di 400 punti ELO nel tennis non garantisce il 91%, ma circa l'80% di vittoria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</p:txBody>
      </p:sp>
      <p:pic>
        <p:nvPicPr>
          <p:cNvPr id="12" name="Immagine 11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42F3302E-E8D3-63B0-BBE2-8DB97011A0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8170" y="3588774"/>
            <a:ext cx="4989707" cy="3131574"/>
          </a:xfrm>
          <a:prstGeom prst="rect">
            <a:avLst/>
          </a:prstGeom>
        </p:spPr>
      </p:pic>
      <p:pic>
        <p:nvPicPr>
          <p:cNvPr id="2" name="Immagine 1" descr="Immagine che contiene palla, palla da tennis, attrezzature sportive, tennis&#10;&#10;Il contenuto generato dall'IA potrebbe non essere corretto.">
            <a:extLst>
              <a:ext uri="{FF2B5EF4-FFF2-40B4-BE49-F238E27FC236}">
                <a16:creationId xmlns:a16="http://schemas.microsoft.com/office/drawing/2014/main" id="{44AAB396-9C3B-B3A4-7E6A-DBA3F871B7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658411">
            <a:off x="10683759" y="2606009"/>
            <a:ext cx="2121220" cy="212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3960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26A7C-C7ED-2FF9-00A6-AC2EB87F3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magine 10" descr="Immagine che contiene testo, schermata, numero, Carattere&#10;&#10;Il contenuto generato dall'IA potrebbe non essere corretto.">
            <a:extLst>
              <a:ext uri="{FF2B5EF4-FFF2-40B4-BE49-F238E27FC236}">
                <a16:creationId xmlns:a16="http://schemas.microsoft.com/office/drawing/2014/main" id="{CB21F4D3-7FFA-B242-AE6B-04DEA4747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97691"/>
            <a:ext cx="4059393" cy="2683327"/>
          </a:xfrm>
          <a:prstGeom prst="rect">
            <a:avLst/>
          </a:prstGeom>
        </p:spPr>
      </p:pic>
      <p:pic>
        <p:nvPicPr>
          <p:cNvPr id="4" name="Immagine 3" descr="Immagine che contiene testo, diagramma, mappa, Piano">
            <a:extLst>
              <a:ext uri="{FF2B5EF4-FFF2-40B4-BE49-F238E27FC236}">
                <a16:creationId xmlns:a16="http://schemas.microsoft.com/office/drawing/2014/main" id="{3A71C54A-C379-2CF8-01B9-5B8BFA9DA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8364" y="3616923"/>
            <a:ext cx="7708490" cy="3172250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99FB2D3B-253F-F7EC-BCC4-AF1518C8FA3E}"/>
              </a:ext>
            </a:extLst>
          </p:cNvPr>
          <p:cNvSpPr txBox="1"/>
          <p:nvPr/>
        </p:nvSpPr>
        <p:spPr>
          <a:xfrm>
            <a:off x="245805" y="68827"/>
            <a:ext cx="113857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400" b="1" dirty="0"/>
              <a:t>Strategia di Modellazione 1) </a:t>
            </a:r>
            <a:r>
              <a:rPr lang="it-IT" sz="4400" b="1" dirty="0" err="1"/>
              <a:t>Decision</a:t>
            </a:r>
            <a:r>
              <a:rPr lang="it-IT" sz="4400" b="1" dirty="0"/>
              <a:t> Tree</a:t>
            </a:r>
            <a:endParaRPr lang="it-IT" sz="4200" b="1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CE746C6-C3CA-AF2C-6F80-CC39C02C1D67}"/>
              </a:ext>
            </a:extLst>
          </p:cNvPr>
          <p:cNvSpPr txBox="1"/>
          <p:nvPr/>
        </p:nvSpPr>
        <p:spPr>
          <a:xfrm>
            <a:off x="5186802" y="993058"/>
            <a:ext cx="48964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endParaRPr lang="it-IT" dirty="0"/>
          </a:p>
          <a:p>
            <a:endParaRPr lang="it-IT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10EF275-7BA9-FE14-D6FB-215E8D2DD913}"/>
              </a:ext>
            </a:extLst>
          </p:cNvPr>
          <p:cNvSpPr txBox="1"/>
          <p:nvPr/>
        </p:nvSpPr>
        <p:spPr>
          <a:xfrm>
            <a:off x="160351" y="716058"/>
            <a:ext cx="1114674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b="1" i="1" dirty="0">
              <a:solidFill>
                <a:srgbClr val="FF0000"/>
              </a:solidFill>
            </a:endParaRPr>
          </a:p>
          <a:p>
            <a:r>
              <a:rPr lang="it-IT" dirty="0"/>
              <a:t>Scelto per l'interpretabilità. Volevamo capire quali regole segue il tennis: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Dopo una calibrazione si è trovato che la profondità in cui applicare il </a:t>
            </a:r>
            <a:r>
              <a:rPr lang="it-IT" dirty="0" err="1"/>
              <a:t>Pruning</a:t>
            </a:r>
            <a:r>
              <a:rPr lang="it-IT" dirty="0"/>
              <a:t> è 8 ed il numero minimo di sample per foglia deve essere 200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Ottimizzazione tramite Gini </a:t>
            </a:r>
            <a:r>
              <a:rPr lang="it-IT" dirty="0" err="1"/>
              <a:t>Impurity</a:t>
            </a:r>
            <a:r>
              <a:rPr lang="it-IT" dirty="0"/>
              <a:t> per massimizzare la separazione delle classi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Le features più significative sono DIFF_ELO e DIFF_SURF_ELO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Accuratezza: 64,45%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Precisione: 64,00%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Recall: 64,95%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</p:txBody>
      </p:sp>
      <p:pic>
        <p:nvPicPr>
          <p:cNvPr id="2" name="Immagine 1" descr="Immagine che contiene palla, palla da tennis, attrezzature sportive, tennis&#10;&#10;Il contenuto generato dall'IA potrebbe non essere corretto.">
            <a:extLst>
              <a:ext uri="{FF2B5EF4-FFF2-40B4-BE49-F238E27FC236}">
                <a16:creationId xmlns:a16="http://schemas.microsoft.com/office/drawing/2014/main" id="{D32C5D8F-06DC-1FBC-232A-30D70E4CB5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47815">
            <a:off x="10683759" y="3560919"/>
            <a:ext cx="2121220" cy="212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5203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6BB69-A173-D9CC-E394-41C07B3B6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>
            <a:extLst>
              <a:ext uri="{FF2B5EF4-FFF2-40B4-BE49-F238E27FC236}">
                <a16:creationId xmlns:a16="http://schemas.microsoft.com/office/drawing/2014/main" id="{B3F7AAA9-DDD7-5B58-3FB9-A0F19D203C05}"/>
              </a:ext>
            </a:extLst>
          </p:cNvPr>
          <p:cNvSpPr txBox="1"/>
          <p:nvPr/>
        </p:nvSpPr>
        <p:spPr>
          <a:xfrm>
            <a:off x="176979" y="85117"/>
            <a:ext cx="113857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400" b="1" dirty="0"/>
              <a:t>Strategia di Modellazione 2) </a:t>
            </a:r>
            <a:r>
              <a:rPr lang="it-IT" sz="4400" b="1" dirty="0" err="1"/>
              <a:t>Neural</a:t>
            </a:r>
            <a:r>
              <a:rPr lang="it-IT" sz="4400" b="1" dirty="0"/>
              <a:t> Network</a:t>
            </a:r>
            <a:endParaRPr lang="it-IT" sz="4200" b="1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A180ED7-95EA-6CB4-2881-6FACE32C594C}"/>
              </a:ext>
            </a:extLst>
          </p:cNvPr>
          <p:cNvSpPr txBox="1"/>
          <p:nvPr/>
        </p:nvSpPr>
        <p:spPr>
          <a:xfrm>
            <a:off x="5186802" y="993058"/>
            <a:ext cx="48964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endParaRPr lang="it-IT" dirty="0"/>
          </a:p>
          <a:p>
            <a:endParaRPr lang="it-IT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9AEC44B-36C5-C61A-3DED-4731DE22BBBB}"/>
              </a:ext>
            </a:extLst>
          </p:cNvPr>
          <p:cNvSpPr txBox="1"/>
          <p:nvPr/>
        </p:nvSpPr>
        <p:spPr>
          <a:xfrm>
            <a:off x="176979" y="1434661"/>
            <a:ext cx="501445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it-IT" sz="1600" dirty="0"/>
              <a:t>Configurazione: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i="1" dirty="0"/>
              <a:t>Input Layer:</a:t>
            </a:r>
            <a:r>
              <a:rPr lang="it-IT" sz="1600" dirty="0"/>
              <a:t> 57 neuroni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i="1" dirty="0" err="1"/>
              <a:t>Hidden</a:t>
            </a:r>
            <a:r>
              <a:rPr lang="it-IT" sz="1600" i="1" dirty="0"/>
              <a:t> </a:t>
            </a:r>
            <a:r>
              <a:rPr lang="it-IT" sz="1600" i="1" dirty="0" err="1"/>
              <a:t>Layers</a:t>
            </a:r>
            <a:r>
              <a:rPr lang="it-IT" sz="1600" i="1" dirty="0"/>
              <a:t>:</a:t>
            </a:r>
            <a:r>
              <a:rPr lang="it-IT" sz="1600" dirty="0"/>
              <a:t> 4 strati densi con dimensione decrescente: </a:t>
            </a:r>
            <a:r>
              <a:rPr lang="it-IT" sz="1600" b="1" dirty="0"/>
              <a:t>128 </a:t>
            </a:r>
            <a:r>
              <a:rPr lang="it-IT" sz="1600" b="1" dirty="0">
                <a:sym typeface="Wingdings" panose="05000000000000000000" pitchFamily="2" charset="2"/>
              </a:rPr>
              <a:t> 128 64 32</a:t>
            </a:r>
            <a:r>
              <a:rPr lang="it-IT" sz="1600" dirty="0">
                <a:sym typeface="Wingdings" panose="05000000000000000000" pitchFamily="2" charset="2"/>
              </a:rPr>
              <a:t>, </a:t>
            </a:r>
            <a:r>
              <a:rPr lang="it-IT" sz="1600" dirty="0"/>
              <a:t>costringe la rete a comprimere l'informazione, estraendo concetti sempre più astratti</a:t>
            </a:r>
          </a:p>
          <a:p>
            <a:br>
              <a:rPr lang="it-IT" dirty="0"/>
            </a:b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AA052BB-3A0D-A06E-F890-5E1A746E0FE8}"/>
              </a:ext>
            </a:extLst>
          </p:cNvPr>
          <p:cNvSpPr txBox="1"/>
          <p:nvPr/>
        </p:nvSpPr>
        <p:spPr>
          <a:xfrm>
            <a:off x="5338918" y="1316223"/>
            <a:ext cx="667610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2) </a:t>
            </a:r>
            <a:r>
              <a:rPr lang="it-IT" sz="1600" dirty="0" err="1"/>
              <a:t>Iperparametri</a:t>
            </a:r>
            <a:r>
              <a:rPr lang="it-IT" sz="1600" dirty="0"/>
              <a:t> e Training: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Funzione di Attivazione: </a:t>
            </a:r>
            <a:r>
              <a:rPr lang="it-IT" sz="1600" b="1" dirty="0" err="1"/>
              <a:t>ReLU</a:t>
            </a:r>
            <a:endParaRPr lang="it-IT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Ottimizzatore: </a:t>
            </a:r>
            <a:r>
              <a:rPr lang="it-IT" sz="1600" b="1" dirty="0"/>
              <a:t>Adam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Early</a:t>
            </a:r>
            <a:r>
              <a:rPr lang="it-IT" sz="1600" dirty="0"/>
              <a:t> </a:t>
            </a:r>
            <a:r>
              <a:rPr lang="it-IT" sz="1600" dirty="0" err="1"/>
              <a:t>Stopping</a:t>
            </a:r>
            <a:r>
              <a:rPr lang="it-IT" sz="1600" dirty="0"/>
              <a:t>: Il training si ferma se la </a:t>
            </a:r>
            <a:r>
              <a:rPr lang="it-IT" sz="1600" dirty="0" err="1"/>
              <a:t>loss</a:t>
            </a:r>
            <a:r>
              <a:rPr lang="it-IT" sz="1600" dirty="0"/>
              <a:t> non migliora per 15 epoche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i="1" dirty="0"/>
              <a:t>Alpha:</a:t>
            </a:r>
            <a:r>
              <a:rPr lang="it-IT" sz="1600" dirty="0"/>
              <a:t> Impostato a </a:t>
            </a:r>
            <a:r>
              <a:rPr lang="it-IT" sz="1600" b="1" dirty="0"/>
              <a:t>0.01</a:t>
            </a:r>
            <a:r>
              <a:rPr lang="it-IT" sz="1600" dirty="0"/>
              <a:t>. Penalizza i pesi troppo grandi per mantenere il modello generale.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84EF2BE-57DF-E24D-C3D2-069572DA8FFF}"/>
              </a:ext>
            </a:extLst>
          </p:cNvPr>
          <p:cNvSpPr txBox="1"/>
          <p:nvPr/>
        </p:nvSpPr>
        <p:spPr>
          <a:xfrm>
            <a:off x="324465" y="854558"/>
            <a:ext cx="112382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Scelta per catturare le relazioni non lineari ed aumentare le prestazioni</a:t>
            </a:r>
          </a:p>
          <a:p>
            <a:endParaRPr lang="it-IT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B2E590C5-FC94-316F-177D-B1B869F3EE16}"/>
              </a:ext>
            </a:extLst>
          </p:cNvPr>
          <p:cNvSpPr txBox="1"/>
          <p:nvPr/>
        </p:nvSpPr>
        <p:spPr>
          <a:xfrm>
            <a:off x="176979" y="3024382"/>
            <a:ext cx="10658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Mentre l'Albero decide guardando una variabile alla volta (tagli netti), l'MLP guarda tutte le variabili insieme, riuscendo a cogliere relazioni più complesse tra le varie features.</a:t>
            </a:r>
          </a:p>
        </p:txBody>
      </p:sp>
      <p:pic>
        <p:nvPicPr>
          <p:cNvPr id="14" name="Immagine 13" descr="Immagine che contiene testo, diagramma, Diagramma, numero&#10;&#10;Il contenuto generato dall'IA potrebbe non essere corretto.">
            <a:extLst>
              <a:ext uri="{FF2B5EF4-FFF2-40B4-BE49-F238E27FC236}">
                <a16:creationId xmlns:a16="http://schemas.microsoft.com/office/drawing/2014/main" id="{6EEFB534-9308-79CA-1AEC-4497A626E6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037"/>
          <a:stretch>
            <a:fillRect/>
          </a:stretch>
        </p:blipFill>
        <p:spPr>
          <a:xfrm>
            <a:off x="368095" y="3670714"/>
            <a:ext cx="3761399" cy="3002340"/>
          </a:xfrm>
          <a:prstGeom prst="rect">
            <a:avLst/>
          </a:prstGeom>
        </p:spPr>
      </p:pic>
      <p:pic>
        <p:nvPicPr>
          <p:cNvPr id="16" name="Immagine 15" descr="Immagine che contiene testo, diagramma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06A1D165-77CF-5746-E8F5-923B72DED4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208" b="6418"/>
          <a:stretch>
            <a:fillRect/>
          </a:stretch>
        </p:blipFill>
        <p:spPr>
          <a:xfrm>
            <a:off x="5280236" y="3670713"/>
            <a:ext cx="3440667" cy="3146665"/>
          </a:xfrm>
          <a:prstGeom prst="rect">
            <a:avLst/>
          </a:prstGeom>
        </p:spPr>
      </p:pic>
      <p:pic>
        <p:nvPicPr>
          <p:cNvPr id="2" name="Immagine 1" descr="Immagine che contiene palla, palla da tennis, attrezzature sportive, tennis&#10;&#10;Il contenuto generato dall'IA potrebbe non essere corretto.">
            <a:extLst>
              <a:ext uri="{FF2B5EF4-FFF2-40B4-BE49-F238E27FC236}">
                <a16:creationId xmlns:a16="http://schemas.microsoft.com/office/drawing/2014/main" id="{C2A2C9C8-4BF0-3A41-5788-AC068DBB4D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191120">
            <a:off x="10763295" y="4942832"/>
            <a:ext cx="2121220" cy="212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6405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5907D-E4D6-A61F-5902-095901595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>
            <a:extLst>
              <a:ext uri="{FF2B5EF4-FFF2-40B4-BE49-F238E27FC236}">
                <a16:creationId xmlns:a16="http://schemas.microsoft.com/office/drawing/2014/main" id="{D1174090-3B9E-8994-5B71-D4BBA36C6DBC}"/>
              </a:ext>
            </a:extLst>
          </p:cNvPr>
          <p:cNvSpPr txBox="1"/>
          <p:nvPr/>
        </p:nvSpPr>
        <p:spPr>
          <a:xfrm>
            <a:off x="176979" y="85117"/>
            <a:ext cx="1138575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200" b="1" dirty="0"/>
              <a:t>Validazione e Risultati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7E1FD05-8DD4-960D-BB44-CA81D722E934}"/>
              </a:ext>
            </a:extLst>
          </p:cNvPr>
          <p:cNvSpPr txBox="1"/>
          <p:nvPr/>
        </p:nvSpPr>
        <p:spPr>
          <a:xfrm>
            <a:off x="5186802" y="993058"/>
            <a:ext cx="48964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endParaRPr lang="it-IT" dirty="0"/>
          </a:p>
          <a:p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41421BD-7F98-CFAC-D353-84B6F5A712E3}"/>
              </a:ext>
            </a:extLst>
          </p:cNvPr>
          <p:cNvSpPr txBox="1"/>
          <p:nvPr/>
        </p:nvSpPr>
        <p:spPr>
          <a:xfrm>
            <a:off x="250722" y="774484"/>
            <a:ext cx="1123827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Come ci si aspettava la rete neurale ha prestazioni superiori sotto tutti i fronti, ma non incredibilmente più alte, analizzando i grafici della curva di ROC e la curva di calibrazione notiamo che la rete neurale è più precisa, sbaglia meno, è più sicura e più calibrata</a:t>
            </a:r>
          </a:p>
          <a:p>
            <a:endParaRPr lang="it-IT" dirty="0"/>
          </a:p>
          <a:p>
            <a:r>
              <a:rPr lang="it-IT" dirty="0"/>
              <a:t>Questi risultati riflettono quello che avevamo scoperto durante l’analisi della PCA, ovvero che l'80% della varianza è sparsa su 16 componenti. Mentre l'albero si concentra su pochi split (il primo è DIFF_ELO &lt;= -39.232), la Rete Neurale riesce a pesare contemporaneamente tutte le 57 variabili, inclusi i gradienti di forma e i dati fisici.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pic>
        <p:nvPicPr>
          <p:cNvPr id="2" name="Immagine 1" descr="Immagine che contiene palla, palla da tennis, attrezzature sportive, tennis&#10;&#10;Il contenuto generato dall'IA potrebbe non essere corretto.">
            <a:extLst>
              <a:ext uri="{FF2B5EF4-FFF2-40B4-BE49-F238E27FC236}">
                <a16:creationId xmlns:a16="http://schemas.microsoft.com/office/drawing/2014/main" id="{F043A86E-17CD-ABC3-B5D1-6F8AC9BC77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049802">
            <a:off x="8895166" y="5050987"/>
            <a:ext cx="2121220" cy="2121220"/>
          </a:xfrm>
          <a:prstGeom prst="rect">
            <a:avLst/>
          </a:prstGeom>
        </p:spPr>
      </p:pic>
      <p:pic>
        <p:nvPicPr>
          <p:cNvPr id="7" name="Immagine 6" descr="Immagine che contiene testo, linea, Diagramma, diagramma">
            <a:extLst>
              <a:ext uri="{FF2B5EF4-FFF2-40B4-BE49-F238E27FC236}">
                <a16:creationId xmlns:a16="http://schemas.microsoft.com/office/drawing/2014/main" id="{1262C619-CB79-CE46-3994-2A11FA8332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722" y="2993345"/>
            <a:ext cx="8180440" cy="332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5701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958BB-81A6-D8B7-C8E0-DD53D5B90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>
            <a:extLst>
              <a:ext uri="{FF2B5EF4-FFF2-40B4-BE49-F238E27FC236}">
                <a16:creationId xmlns:a16="http://schemas.microsoft.com/office/drawing/2014/main" id="{F6CC4F39-47A1-B943-F78E-EF76BAA9E364}"/>
              </a:ext>
            </a:extLst>
          </p:cNvPr>
          <p:cNvSpPr txBox="1"/>
          <p:nvPr/>
        </p:nvSpPr>
        <p:spPr>
          <a:xfrm>
            <a:off x="5626661" y="19665"/>
            <a:ext cx="632444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200" b="1" dirty="0"/>
              <a:t>Simulazione </a:t>
            </a:r>
            <a:r>
              <a:rPr lang="it-IT" sz="4200" b="1" dirty="0" err="1"/>
              <a:t>Australian</a:t>
            </a:r>
            <a:r>
              <a:rPr lang="it-IT" sz="4200" b="1" dirty="0"/>
              <a:t> Open 2025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4FD4EDD-40F5-581D-273E-BFCE2228B2DC}"/>
              </a:ext>
            </a:extLst>
          </p:cNvPr>
          <p:cNvSpPr txBox="1"/>
          <p:nvPr/>
        </p:nvSpPr>
        <p:spPr>
          <a:xfrm>
            <a:off x="5186802" y="993058"/>
            <a:ext cx="48964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endParaRPr lang="it-IT" dirty="0"/>
          </a:p>
          <a:p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8D11AA8-A12A-061A-66BD-44499FCB2866}"/>
              </a:ext>
            </a:extLst>
          </p:cNvPr>
          <p:cNvSpPr txBox="1"/>
          <p:nvPr/>
        </p:nvSpPr>
        <p:spPr>
          <a:xfrm>
            <a:off x="5581110" y="1613308"/>
            <a:ext cx="641554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Per ottenere una ulteriore conferma è stato simulato il torneo degli </a:t>
            </a:r>
            <a:r>
              <a:rPr lang="it-IT" dirty="0" err="1"/>
              <a:t>Australian</a:t>
            </a:r>
            <a:r>
              <a:rPr lang="it-IT" dirty="0"/>
              <a:t> Open 2025, utilizzando come dataset di test tutte le partite dal 2000 al 2024. </a:t>
            </a:r>
          </a:p>
          <a:p>
            <a:endParaRPr lang="it-IT" dirty="0"/>
          </a:p>
          <a:p>
            <a:pPr marL="285750" indent="-285750">
              <a:buFontTx/>
              <a:buChar char="-"/>
            </a:pPr>
            <a:r>
              <a:rPr lang="it-IT" dirty="0"/>
              <a:t>Dopo aver predetto i risultati si è confrontato quante di queste partite hanno restituito un esito di vittoria uguale alla realtà, ottenendo una percentuale del 71,65%</a:t>
            </a:r>
          </a:p>
          <a:p>
            <a:pPr marL="285750" indent="-285750">
              <a:buFontTx/>
              <a:buChar char="-"/>
            </a:pPr>
            <a:r>
              <a:rPr lang="it-IT" dirty="0"/>
              <a:t>Il modello non è in grado di predire i risultati di un giocatore sulla carta più forte ma che per vari motivi quel giorno ha basse prestazioni</a:t>
            </a:r>
          </a:p>
          <a:p>
            <a:pPr marL="285750" indent="-285750">
              <a:buFontTx/>
              <a:buChar char="-"/>
            </a:pPr>
            <a:r>
              <a:rPr lang="it-IT" dirty="0"/>
              <a:t>La simulazione completa conferma il vincitore reale del torneo, validando l’efficacia del modello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pic>
        <p:nvPicPr>
          <p:cNvPr id="2" name="Immagine 1" descr="Immagine che contiene palla, palla da tennis, attrezzature sportive, tennis&#10;&#10;Il contenuto generato dall'IA potrebbe non essere corretto.">
            <a:extLst>
              <a:ext uri="{FF2B5EF4-FFF2-40B4-BE49-F238E27FC236}">
                <a16:creationId xmlns:a16="http://schemas.microsoft.com/office/drawing/2014/main" id="{01B636C0-F417-BBA3-05CF-189F5B930A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028792">
            <a:off x="7282675" y="5260372"/>
            <a:ext cx="2121220" cy="2121220"/>
          </a:xfrm>
          <a:prstGeom prst="rect">
            <a:avLst/>
          </a:prstGeom>
        </p:spPr>
      </p:pic>
      <p:pic>
        <p:nvPicPr>
          <p:cNvPr id="9" name="Immagine 8" descr="Immagine che contiene vestiti, calzature, persona, Danza">
            <a:extLst>
              <a:ext uri="{FF2B5EF4-FFF2-40B4-BE49-F238E27FC236}">
                <a16:creationId xmlns:a16="http://schemas.microsoft.com/office/drawing/2014/main" id="{20E2307A-16CD-007E-5D2E-66C8B5ACB5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512" y="0"/>
            <a:ext cx="54785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1625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715</Words>
  <Application>Microsoft Office PowerPoint</Application>
  <PresentationFormat>Widescreen</PresentationFormat>
  <Paragraphs>64</Paragraphs>
  <Slides>8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Wingdings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Davide Baiardi</dc:creator>
  <cp:lastModifiedBy>Davide Baiardi</cp:lastModifiedBy>
  <cp:revision>2</cp:revision>
  <dcterms:created xsi:type="dcterms:W3CDTF">2026-01-15T13:33:49Z</dcterms:created>
  <dcterms:modified xsi:type="dcterms:W3CDTF">2026-01-15T17:48:09Z</dcterms:modified>
</cp:coreProperties>
</file>